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5"/>
    </p:embeddedFont>
    <p:embeddedFont>
      <p:font typeface="Calibri (MS) Bold Italics" charset="1" panose="020F07020304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3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8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33.png" Type="http://schemas.openxmlformats.org/officeDocument/2006/relationships/image"/><Relationship Id="rId5" Target="../media/image24.png" Type="http://schemas.openxmlformats.org/officeDocument/2006/relationships/image"/><Relationship Id="rId6" Target="../media/image3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pn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11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42.png" Type="http://schemas.openxmlformats.org/officeDocument/2006/relationships/image"/><Relationship Id="rId5" Target="../media/image16.png" Type="http://schemas.openxmlformats.org/officeDocument/2006/relationships/image"/><Relationship Id="rId6" Target="../media/image12.png" Type="http://schemas.openxmlformats.org/officeDocument/2006/relationships/image"/><Relationship Id="rId7" Target="../media/image5.png" Type="http://schemas.openxmlformats.org/officeDocument/2006/relationships/image"/><Relationship Id="rId8" Target="../media/image15.pn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4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42.png" Type="http://schemas.openxmlformats.org/officeDocument/2006/relationships/image"/><Relationship Id="rId6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127480" y="-219456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C7293">
                <a:alpha val="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20240" y="7406640"/>
            <a:ext cx="5486400" cy="5486400"/>
            <a:chOff x="0" y="0"/>
            <a:chExt cx="7315200" cy="731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2EC4B6">
                <a:alpha val="156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2125980"/>
            <a:ext cx="13030200" cy="480060"/>
            <a:chOff x="0" y="0"/>
            <a:chExt cx="17373600" cy="640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37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73736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00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MACHINE LEARNING PROJECT  •  DATA ANALYTICS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2674620"/>
            <a:ext cx="13167360" cy="2606040"/>
            <a:chOff x="0" y="0"/>
            <a:chExt cx="17556480" cy="34747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556480" cy="3474720"/>
            </a:xfrm>
            <a:custGeom>
              <a:avLst/>
              <a:gdLst/>
              <a:ahLst/>
              <a:cxnLst/>
              <a:rect r="r" b="b" t="t" l="l"/>
              <a:pathLst>
                <a:path h="347472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3474720"/>
                  </a:lnTo>
                  <a:lnTo>
                    <a:pt x="0" y="3474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50" r="0" b="-4845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7556480" cy="3531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387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 Shopping Trends Analysis</a:t>
              </a:r>
            </a:p>
            <a:p>
              <a:pPr algn="l">
                <a:lnSpc>
                  <a:spcPts val="7387"/>
                </a:lnSpc>
              </a:pPr>
              <a:r>
                <a:rPr lang="en-US" sz="57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and Subscription Prediction System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5376672"/>
            <a:ext cx="12070080" cy="617220"/>
            <a:chOff x="0" y="0"/>
            <a:chExt cx="16093440" cy="8229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093439" cy="822960"/>
            </a:xfrm>
            <a:custGeom>
              <a:avLst/>
              <a:gdLst/>
              <a:ahLst/>
              <a:cxnLst/>
              <a:rect r="r" b="b" t="t" l="l"/>
              <a:pathLst>
                <a:path h="822960" w="16093439">
                  <a:moveTo>
                    <a:pt x="0" y="0"/>
                  </a:moveTo>
                  <a:lnTo>
                    <a:pt x="16093439" y="0"/>
                  </a:lnTo>
                  <a:lnTo>
                    <a:pt x="16093439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040" r="0" b="-33104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609344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i="true">
                  <a:solidFill>
                    <a:srgbClr val="B9D4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Turning raw customer data into shopping insights and subscription forecasts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70380" y="1028700"/>
            <a:ext cx="1303020" cy="1303020"/>
            <a:chOff x="0" y="0"/>
            <a:chExt cx="1737360" cy="17373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691893" y="1250213"/>
            <a:ext cx="859993" cy="859993"/>
            <a:chOff x="0" y="0"/>
            <a:chExt cx="1146658" cy="1146658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1146683" cy="1146683"/>
            </a:xfrm>
            <a:custGeom>
              <a:avLst/>
              <a:gdLst/>
              <a:ahLst/>
              <a:cxnLst/>
              <a:rect r="r" b="b" t="t" l="l"/>
              <a:pathLst>
                <a:path h="1146683" w="1146683">
                  <a:moveTo>
                    <a:pt x="0" y="0"/>
                  </a:moveTo>
                  <a:lnTo>
                    <a:pt x="1146683" y="0"/>
                  </a:lnTo>
                  <a:lnTo>
                    <a:pt x="1146683" y="1146683"/>
                  </a:lnTo>
                  <a:lnTo>
                    <a:pt x="0" y="1146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116300" y="2125980"/>
            <a:ext cx="987552" cy="987552"/>
            <a:chOff x="0" y="0"/>
            <a:chExt cx="1316736" cy="1316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658368"/>
                  </a:moveTo>
                  <a:cubicBezTo>
                    <a:pt x="0" y="294767"/>
                    <a:pt x="294767" y="0"/>
                    <a:pt x="658368" y="0"/>
                  </a:cubicBezTo>
                  <a:cubicBezTo>
                    <a:pt x="1021969" y="0"/>
                    <a:pt x="1316736" y="294767"/>
                    <a:pt x="1316736" y="658368"/>
                  </a:cubicBezTo>
                  <a:cubicBezTo>
                    <a:pt x="1316736" y="1021969"/>
                    <a:pt x="1021969" y="1316736"/>
                    <a:pt x="658368" y="1316736"/>
                  </a:cubicBezTo>
                  <a:cubicBezTo>
                    <a:pt x="294767" y="1316736"/>
                    <a:pt x="0" y="1021969"/>
                    <a:pt x="0" y="6583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6264433" y="2274113"/>
            <a:ext cx="691286" cy="691286"/>
            <a:chOff x="0" y="0"/>
            <a:chExt cx="921715" cy="921715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921766" cy="921766"/>
            </a:xfrm>
            <a:custGeom>
              <a:avLst/>
              <a:gdLst/>
              <a:ahLst/>
              <a:cxnLst/>
              <a:rect r="r" b="b" t="t" l="l"/>
              <a:pathLst>
                <a:path h="921766" w="921766">
                  <a:moveTo>
                    <a:pt x="0" y="0"/>
                  </a:moveTo>
                  <a:lnTo>
                    <a:pt x="921766" y="0"/>
                  </a:lnTo>
                  <a:lnTo>
                    <a:pt x="921766" y="921766"/>
                  </a:lnTo>
                  <a:lnTo>
                    <a:pt x="0" y="921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5" b="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019020" y="3223260"/>
            <a:ext cx="850392" cy="850392"/>
            <a:chOff x="0" y="0"/>
            <a:chExt cx="1133856" cy="11338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146579" y="3350819"/>
            <a:ext cx="595274" cy="595274"/>
            <a:chOff x="0" y="0"/>
            <a:chExt cx="793699" cy="793699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793750" cy="793750"/>
            </a:xfrm>
            <a:custGeom>
              <a:avLst/>
              <a:gdLst/>
              <a:ahLst/>
              <a:cxnLst/>
              <a:rect r="r" b="b" t="t" l="l"/>
              <a:pathLst>
                <a:path h="793750" w="793750">
                  <a:moveTo>
                    <a:pt x="0" y="0"/>
                  </a:moveTo>
                  <a:lnTo>
                    <a:pt x="793750" y="0"/>
                  </a:lnTo>
                  <a:lnTo>
                    <a:pt x="793750" y="793750"/>
                  </a:lnTo>
                  <a:lnTo>
                    <a:pt x="0" y="793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6" b="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234440" y="6377940"/>
            <a:ext cx="5486400" cy="411480"/>
            <a:chOff x="0" y="0"/>
            <a:chExt cx="7315200" cy="5486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300">
                  <a:solidFill>
                    <a:srgbClr val="82A6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PRESENTED BY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" y="6789420"/>
            <a:ext cx="8229600" cy="1165860"/>
            <a:chOff x="0" y="0"/>
            <a:chExt cx="10972800" cy="15544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541" r="0" b="-8754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33350"/>
              <a:ext cx="10972800" cy="1687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75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Subhalaxmi Mallick</a:t>
              </a:r>
            </a:p>
            <a:p>
              <a:pPr algn="l">
                <a:lnSpc>
                  <a:spcPts val="4275"/>
                </a:lnSpc>
              </a:pPr>
              <a:r>
                <a:rPr lang="en-US" sz="28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Subhashree Sahoo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20152" y="8695372"/>
            <a:ext cx="28575" cy="1098423"/>
            <a:chOff x="0" y="0"/>
            <a:chExt cx="38100" cy="14645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100" cy="1464564"/>
            </a:xfrm>
            <a:custGeom>
              <a:avLst/>
              <a:gdLst/>
              <a:ahLst/>
              <a:cxnLst/>
              <a:rect r="r" b="b" t="t" l="l"/>
              <a:pathLst>
                <a:path h="1464564" w="38100">
                  <a:moveTo>
                    <a:pt x="0" y="0"/>
                  </a:moveTo>
                  <a:lnTo>
                    <a:pt x="38100" y="1464564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4881989" t="0" r="-4881989" b="0"/>
              </a:stretch>
            </a:blip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81328" y="8709660"/>
            <a:ext cx="5006340" cy="384048"/>
            <a:chOff x="0" y="0"/>
            <a:chExt cx="6675120" cy="5120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675120" cy="512064"/>
            </a:xfrm>
            <a:custGeom>
              <a:avLst/>
              <a:gdLst/>
              <a:ahLst/>
              <a:cxnLst/>
              <a:rect r="r" b="b" t="t" l="l"/>
              <a:pathLst>
                <a:path h="51206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001" r="0" b="-20400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67512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25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81328" y="9093708"/>
            <a:ext cx="5006340" cy="617220"/>
            <a:chOff x="0" y="0"/>
            <a:chExt cx="6675120" cy="822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75120" cy="822960"/>
            </a:xfrm>
            <a:custGeom>
              <a:avLst/>
              <a:gdLst/>
              <a:ahLst/>
              <a:cxnLst/>
              <a:rect r="r" b="b" t="t" l="l"/>
              <a:pathLst>
                <a:path h="82296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675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CE &amp; IoT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843712" y="8695372"/>
            <a:ext cx="28575" cy="1098423"/>
            <a:chOff x="0" y="0"/>
            <a:chExt cx="38100" cy="14645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100" cy="1464564"/>
            </a:xfrm>
            <a:custGeom>
              <a:avLst/>
              <a:gdLst/>
              <a:ahLst/>
              <a:cxnLst/>
              <a:rect r="r" b="b" t="t" l="l"/>
              <a:pathLst>
                <a:path h="1464564" w="38100">
                  <a:moveTo>
                    <a:pt x="0" y="0"/>
                  </a:moveTo>
                  <a:lnTo>
                    <a:pt x="38100" y="1464564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4881989" t="0" r="-4881989" b="0"/>
              </a:stretch>
            </a:blip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7104888" y="8709660"/>
            <a:ext cx="5006340" cy="384048"/>
            <a:chOff x="0" y="0"/>
            <a:chExt cx="6675120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75120" cy="512064"/>
            </a:xfrm>
            <a:custGeom>
              <a:avLst/>
              <a:gdLst/>
              <a:ahLst/>
              <a:cxnLst/>
              <a:rect r="r" b="b" t="t" l="l"/>
              <a:pathLst>
                <a:path h="51206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001" r="0" b="-20400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67512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25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104888" y="9093708"/>
            <a:ext cx="5006340" cy="617220"/>
            <a:chOff x="0" y="0"/>
            <a:chExt cx="667512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675120" cy="822960"/>
            </a:xfrm>
            <a:custGeom>
              <a:avLst/>
              <a:gdLst/>
              <a:ahLst/>
              <a:cxnLst/>
              <a:rect r="r" b="b" t="t" l="l"/>
              <a:pathLst>
                <a:path h="82296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675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- 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67272" y="8695372"/>
            <a:ext cx="28575" cy="1098423"/>
            <a:chOff x="0" y="0"/>
            <a:chExt cx="38100" cy="14645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100" cy="1464564"/>
            </a:xfrm>
            <a:custGeom>
              <a:avLst/>
              <a:gdLst/>
              <a:ahLst/>
              <a:cxnLst/>
              <a:rect r="r" b="b" t="t" l="l"/>
              <a:pathLst>
                <a:path h="1464564" w="38100">
                  <a:moveTo>
                    <a:pt x="0" y="0"/>
                  </a:moveTo>
                  <a:lnTo>
                    <a:pt x="38100" y="1464564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4881989" t="0" r="-4881989" b="0"/>
              </a:stretch>
            </a:blipFill>
            <a:ln w="28575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728448" y="8709660"/>
            <a:ext cx="5006340" cy="384048"/>
            <a:chOff x="0" y="0"/>
            <a:chExt cx="6675120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675120" cy="512064"/>
            </a:xfrm>
            <a:custGeom>
              <a:avLst/>
              <a:gdLst/>
              <a:ahLst/>
              <a:cxnLst/>
              <a:rect r="r" b="b" t="t" l="l"/>
              <a:pathLst>
                <a:path h="512064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4001" r="0" b="-20400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67512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25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728448" y="9093708"/>
            <a:ext cx="5006340" cy="617220"/>
            <a:chOff x="0" y="0"/>
            <a:chExt cx="6675120" cy="8229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675120" cy="822960"/>
            </a:xfrm>
            <a:custGeom>
              <a:avLst/>
              <a:gdLst/>
              <a:ahLst/>
              <a:cxnLst/>
              <a:rect r="r" b="b" t="t" l="l"/>
              <a:pathLst>
                <a:path h="82296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6675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Govt. Polytechnic Bhubaneswar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Introduction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16322040" cy="2125980"/>
            <a:chOff x="0" y="0"/>
            <a:chExt cx="21762720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2670048"/>
                  </a:lnTo>
                  <a:cubicBezTo>
                    <a:pt x="21762720" y="2760980"/>
                    <a:pt x="21689061" y="2834640"/>
                    <a:pt x="215981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921508"/>
            <a:ext cx="1303020" cy="1303020"/>
            <a:chOff x="0" y="0"/>
            <a:chExt cx="173736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93113" y="3143021"/>
            <a:ext cx="859993" cy="859993"/>
            <a:chOff x="0" y="0"/>
            <a:chExt cx="1146658" cy="114665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146683" cy="1146683"/>
            </a:xfrm>
            <a:custGeom>
              <a:avLst/>
              <a:gdLst/>
              <a:ahLst/>
              <a:cxnLst/>
              <a:rect r="r" b="b" t="t" l="l"/>
              <a:pathLst>
                <a:path h="1146683" w="1146683">
                  <a:moveTo>
                    <a:pt x="0" y="0"/>
                  </a:moveTo>
                  <a:lnTo>
                    <a:pt x="1146683" y="0"/>
                  </a:lnTo>
                  <a:lnTo>
                    <a:pt x="1146683" y="1146683"/>
                  </a:lnTo>
                  <a:lnTo>
                    <a:pt x="0" y="1146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086100" y="2811780"/>
            <a:ext cx="13716000" cy="548640"/>
            <a:chOff x="0" y="0"/>
            <a:chExt cx="182880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Understanding Customer Behavior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86100" y="3387852"/>
            <a:ext cx="13578840" cy="1097280"/>
            <a:chOff x="0" y="0"/>
            <a:chExt cx="1810512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81051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5C70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Customer shopping behavior analysis helps businesses understand customer preferences and purchasing patterns.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4978908"/>
            <a:ext cx="16322040" cy="2125980"/>
            <a:chOff x="0" y="0"/>
            <a:chExt cx="21762720" cy="2834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62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2670048"/>
                  </a:lnTo>
                  <a:cubicBezTo>
                    <a:pt x="21762720" y="2760980"/>
                    <a:pt x="21689061" y="2834640"/>
                    <a:pt x="215981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5362956"/>
            <a:ext cx="1303020" cy="1303020"/>
            <a:chOff x="0" y="0"/>
            <a:chExt cx="1737360" cy="1737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93113" y="5584469"/>
            <a:ext cx="859993" cy="859993"/>
            <a:chOff x="0" y="0"/>
            <a:chExt cx="1146658" cy="1146658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146683" cy="1146683"/>
            </a:xfrm>
            <a:custGeom>
              <a:avLst/>
              <a:gdLst/>
              <a:ahLst/>
              <a:cxnLst/>
              <a:rect r="r" b="b" t="t" l="l"/>
              <a:pathLst>
                <a:path h="1146683" w="1146683">
                  <a:moveTo>
                    <a:pt x="0" y="0"/>
                  </a:moveTo>
                  <a:lnTo>
                    <a:pt x="1146683" y="0"/>
                  </a:lnTo>
                  <a:lnTo>
                    <a:pt x="1146683" y="1146683"/>
                  </a:lnTo>
                  <a:lnTo>
                    <a:pt x="0" y="1146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2" b="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3086100" y="5253228"/>
            <a:ext cx="13716000" cy="548640"/>
            <a:chOff x="0" y="0"/>
            <a:chExt cx="1828800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Power of Machine Learning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086100" y="5829300"/>
            <a:ext cx="13578840" cy="1097280"/>
            <a:chOff x="0" y="0"/>
            <a:chExt cx="1810512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81051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5C70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Machine Learning can analyze customer data and predict future customer actions with high accuracy.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7420356"/>
            <a:ext cx="16322040" cy="2125980"/>
            <a:chOff x="0" y="0"/>
            <a:chExt cx="21762720" cy="2834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762720" cy="2834640"/>
            </a:xfrm>
            <a:custGeom>
              <a:avLst/>
              <a:gdLst/>
              <a:ahLst/>
              <a:cxnLst/>
              <a:rect r="r" b="b" t="t" l="l"/>
              <a:pathLst>
                <a:path h="283464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2670048"/>
                  </a:lnTo>
                  <a:cubicBezTo>
                    <a:pt x="21762720" y="2760980"/>
                    <a:pt x="21689061" y="2834640"/>
                    <a:pt x="21598128" y="2834640"/>
                  </a:cubicBezTo>
                  <a:lnTo>
                    <a:pt x="164592" y="2834640"/>
                  </a:lnTo>
                  <a:cubicBezTo>
                    <a:pt x="73660" y="2834640"/>
                    <a:pt x="0" y="2760980"/>
                    <a:pt x="0" y="267004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371600" y="7804404"/>
            <a:ext cx="1303020" cy="1303020"/>
            <a:chOff x="0" y="0"/>
            <a:chExt cx="173736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93113" y="8025917"/>
            <a:ext cx="859993" cy="859993"/>
            <a:chOff x="0" y="0"/>
            <a:chExt cx="1146658" cy="1146658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1146683" cy="1146683"/>
            </a:xfrm>
            <a:custGeom>
              <a:avLst/>
              <a:gdLst/>
              <a:ahLst/>
              <a:cxnLst/>
              <a:rect r="r" b="b" t="t" l="l"/>
              <a:pathLst>
                <a:path h="1146683" w="1146683">
                  <a:moveTo>
                    <a:pt x="0" y="0"/>
                  </a:moveTo>
                  <a:lnTo>
                    <a:pt x="1146683" y="0"/>
                  </a:lnTo>
                  <a:lnTo>
                    <a:pt x="1146683" y="1146683"/>
                  </a:lnTo>
                  <a:lnTo>
                    <a:pt x="0" y="1146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2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086100" y="7694676"/>
            <a:ext cx="13716000" cy="548640"/>
            <a:chOff x="0" y="0"/>
            <a:chExt cx="182880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18288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This Project Does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086100" y="8270748"/>
            <a:ext cx="13578840" cy="1097280"/>
            <a:chOff x="0" y="0"/>
            <a:chExt cx="1810512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810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105120">
                  <a:moveTo>
                    <a:pt x="0" y="0"/>
                  </a:moveTo>
                  <a:lnTo>
                    <a:pt x="18105120" y="0"/>
                  </a:lnTo>
                  <a:lnTo>
                    <a:pt x="1810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127" r="0" b="-19112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810512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4"/>
                </a:lnSpc>
              </a:pPr>
              <a:r>
                <a:rPr lang="en-US" sz="2025">
                  <a:solidFill>
                    <a:srgbClr val="5C708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project uses customer shopping data to generate insights and predict subscription status.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125980"/>
            <a:ext cx="10972800" cy="480060"/>
            <a:chOff x="0" y="0"/>
            <a:chExt cx="14630400" cy="640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5C7081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Businesses often struggle to: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0120" y="2811780"/>
            <a:ext cx="8023860" cy="2331720"/>
            <a:chOff x="0" y="0"/>
            <a:chExt cx="10698480" cy="310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69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944368"/>
                  </a:lnTo>
                  <a:cubicBezTo>
                    <a:pt x="10698480" y="3035300"/>
                    <a:pt x="10624820" y="3108960"/>
                    <a:pt x="10533888" y="3108960"/>
                  </a:cubicBezTo>
                  <a:lnTo>
                    <a:pt x="164592" y="3108960"/>
                  </a:lnTo>
                  <a:cubicBezTo>
                    <a:pt x="73660" y="3108960"/>
                    <a:pt x="0" y="3035300"/>
                    <a:pt x="0" y="29443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40180" y="3387852"/>
            <a:ext cx="1165860" cy="1165860"/>
            <a:chOff x="0" y="0"/>
            <a:chExt cx="1554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626718" y="3574390"/>
            <a:ext cx="792785" cy="792785"/>
            <a:chOff x="0" y="0"/>
            <a:chExt cx="1057046" cy="1057046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57021" cy="1057021"/>
            </a:xfrm>
            <a:custGeom>
              <a:avLst/>
              <a:gdLst/>
              <a:ahLst/>
              <a:cxnLst/>
              <a:rect r="r" b="b" t="t" l="l"/>
              <a:pathLst>
                <a:path h="1057021" w="1057021">
                  <a:moveTo>
                    <a:pt x="0" y="0"/>
                  </a:moveTo>
                  <a:lnTo>
                    <a:pt x="1057021" y="0"/>
                  </a:lnTo>
                  <a:lnTo>
                    <a:pt x="1057021" y="1057021"/>
                  </a:lnTo>
                  <a:lnTo>
                    <a:pt x="0" y="1057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948940" y="2811780"/>
            <a:ext cx="5692140" cy="2331720"/>
            <a:chOff x="0" y="0"/>
            <a:chExt cx="7589520" cy="3108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8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58" t="0" r="-255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589520" cy="3147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7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Understand Customer Behavior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395460" y="2811780"/>
            <a:ext cx="8023860" cy="2331720"/>
            <a:chOff x="0" y="0"/>
            <a:chExt cx="10698480" cy="3108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944368"/>
                  </a:lnTo>
                  <a:cubicBezTo>
                    <a:pt x="10698480" y="3035300"/>
                    <a:pt x="10624820" y="3108960"/>
                    <a:pt x="10533888" y="3108960"/>
                  </a:cubicBezTo>
                  <a:lnTo>
                    <a:pt x="164592" y="3108960"/>
                  </a:lnTo>
                  <a:cubicBezTo>
                    <a:pt x="73660" y="3108960"/>
                    <a:pt x="0" y="3035300"/>
                    <a:pt x="0" y="29443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3387852"/>
            <a:ext cx="1165860" cy="1165860"/>
            <a:chOff x="0" y="0"/>
            <a:chExt cx="155448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062058" y="3574390"/>
            <a:ext cx="792785" cy="792785"/>
            <a:chOff x="0" y="0"/>
            <a:chExt cx="1057046" cy="105704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57021" cy="1057021"/>
            </a:xfrm>
            <a:custGeom>
              <a:avLst/>
              <a:gdLst/>
              <a:ahLst/>
              <a:cxnLst/>
              <a:rect r="r" b="b" t="t" l="l"/>
              <a:pathLst>
                <a:path h="1057021" w="1057021">
                  <a:moveTo>
                    <a:pt x="0" y="0"/>
                  </a:moveTo>
                  <a:lnTo>
                    <a:pt x="1057021" y="0"/>
                  </a:lnTo>
                  <a:lnTo>
                    <a:pt x="1057021" y="1057021"/>
                  </a:lnTo>
                  <a:lnTo>
                    <a:pt x="0" y="1057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384280" y="2811780"/>
            <a:ext cx="5692140" cy="2331720"/>
            <a:chOff x="0" y="0"/>
            <a:chExt cx="7589520" cy="31089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8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58" t="0" r="-255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589520" cy="3147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7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Identify Purchasing Patterns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0120" y="5554980"/>
            <a:ext cx="8023860" cy="2331720"/>
            <a:chOff x="0" y="0"/>
            <a:chExt cx="10698480" cy="31089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9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944368"/>
                  </a:lnTo>
                  <a:cubicBezTo>
                    <a:pt x="10698480" y="3035300"/>
                    <a:pt x="10624820" y="3108960"/>
                    <a:pt x="10533888" y="3108960"/>
                  </a:cubicBezTo>
                  <a:lnTo>
                    <a:pt x="164592" y="3108960"/>
                  </a:lnTo>
                  <a:cubicBezTo>
                    <a:pt x="73660" y="3108960"/>
                    <a:pt x="0" y="3035300"/>
                    <a:pt x="0" y="29443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40180" y="6131052"/>
            <a:ext cx="1165860" cy="1165860"/>
            <a:chOff x="0" y="0"/>
            <a:chExt cx="1554480" cy="1554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26718" y="6317590"/>
            <a:ext cx="792785" cy="792785"/>
            <a:chOff x="0" y="0"/>
            <a:chExt cx="1057046" cy="105704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1057021" cy="1057021"/>
            </a:xfrm>
            <a:custGeom>
              <a:avLst/>
              <a:gdLst/>
              <a:ahLst/>
              <a:cxnLst/>
              <a:rect r="r" b="b" t="t" l="l"/>
              <a:pathLst>
                <a:path h="1057021" w="1057021">
                  <a:moveTo>
                    <a:pt x="0" y="0"/>
                  </a:moveTo>
                  <a:lnTo>
                    <a:pt x="1057021" y="0"/>
                  </a:lnTo>
                  <a:lnTo>
                    <a:pt x="1057021" y="1057021"/>
                  </a:lnTo>
                  <a:lnTo>
                    <a:pt x="0" y="1057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2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948940" y="5554980"/>
            <a:ext cx="5692140" cy="2331720"/>
            <a:chOff x="0" y="0"/>
            <a:chExt cx="7589520" cy="3108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8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58" t="0" r="-255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7589520" cy="3147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7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Predict Customer Subscriptions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95460" y="5554980"/>
            <a:ext cx="8023860" cy="2331720"/>
            <a:chOff x="0" y="0"/>
            <a:chExt cx="10698480" cy="31089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9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06984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533888" y="0"/>
                  </a:lnTo>
                  <a:cubicBezTo>
                    <a:pt x="10624820" y="0"/>
                    <a:pt x="10698480" y="73660"/>
                    <a:pt x="10698480" y="164592"/>
                  </a:cubicBezTo>
                  <a:lnTo>
                    <a:pt x="10698480" y="2944368"/>
                  </a:lnTo>
                  <a:cubicBezTo>
                    <a:pt x="10698480" y="3035300"/>
                    <a:pt x="10624820" y="3108960"/>
                    <a:pt x="10533888" y="3108960"/>
                  </a:cubicBezTo>
                  <a:lnTo>
                    <a:pt x="164592" y="3108960"/>
                  </a:lnTo>
                  <a:cubicBezTo>
                    <a:pt x="73660" y="3108960"/>
                    <a:pt x="0" y="3035300"/>
                    <a:pt x="0" y="29443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875520" y="6131052"/>
            <a:ext cx="1165860" cy="1165860"/>
            <a:chOff x="0" y="0"/>
            <a:chExt cx="1554480" cy="15544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062058" y="6317590"/>
            <a:ext cx="792785" cy="792785"/>
            <a:chOff x="0" y="0"/>
            <a:chExt cx="1057046" cy="1057046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57021" cy="1057021"/>
            </a:xfrm>
            <a:custGeom>
              <a:avLst/>
              <a:gdLst/>
              <a:ahLst/>
              <a:cxnLst/>
              <a:rect r="r" b="b" t="t" l="l"/>
              <a:pathLst>
                <a:path h="1057021" w="1057021">
                  <a:moveTo>
                    <a:pt x="0" y="0"/>
                  </a:moveTo>
                  <a:lnTo>
                    <a:pt x="1057021" y="0"/>
                  </a:lnTo>
                  <a:lnTo>
                    <a:pt x="1057021" y="1057021"/>
                  </a:lnTo>
                  <a:lnTo>
                    <a:pt x="0" y="1057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" b="-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1384280" y="5554980"/>
            <a:ext cx="5692140" cy="2331720"/>
            <a:chOff x="0" y="0"/>
            <a:chExt cx="7589520" cy="3108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589520" cy="3108960"/>
            </a:xfrm>
            <a:custGeom>
              <a:avLst/>
              <a:gdLst/>
              <a:ahLst/>
              <a:cxnLst/>
              <a:rect r="r" b="b" t="t" l="l"/>
              <a:pathLst>
                <a:path h="31089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58" t="0" r="-255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7589520" cy="3147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67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Make Data-Driven Decisions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0120" y="8298180"/>
            <a:ext cx="16322040" cy="1165860"/>
            <a:chOff x="0" y="0"/>
            <a:chExt cx="21762720" cy="1554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1389888"/>
                  </a:lnTo>
                  <a:cubicBezTo>
                    <a:pt x="21762720" y="1480820"/>
                    <a:pt x="21689061" y="1554480"/>
                    <a:pt x="21598128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71600" y="8298180"/>
            <a:ext cx="15499080" cy="1165860"/>
            <a:chOff x="0" y="0"/>
            <a:chExt cx="20665440" cy="1554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066544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 i="true">
                  <a:solidFill>
                    <a:srgbClr val="FFFFFF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A smart analytics system is required to solve these challenges.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AIM TO ACHIEVE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Objectives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00300"/>
            <a:ext cx="5308092" cy="2948940"/>
            <a:chOff x="0" y="0"/>
            <a:chExt cx="7077456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767328"/>
                  </a:lnTo>
                  <a:cubicBezTo>
                    <a:pt x="7077456" y="3858260"/>
                    <a:pt x="7003796" y="3931920"/>
                    <a:pt x="6912864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606040"/>
            <a:ext cx="1645920" cy="685800"/>
            <a:chOff x="0" y="0"/>
            <a:chExt cx="219456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194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7E0E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828032" y="2743200"/>
            <a:ext cx="960120" cy="960120"/>
            <a:chOff x="0" y="0"/>
            <a:chExt cx="128016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981651" y="2896819"/>
            <a:ext cx="652882" cy="652882"/>
            <a:chOff x="0" y="0"/>
            <a:chExt cx="870509" cy="870509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303020" y="3840480"/>
            <a:ext cx="4622292" cy="1303020"/>
            <a:chOff x="0" y="0"/>
            <a:chExt cx="6163056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1630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20" r="0" b="-191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85725"/>
              <a:ext cx="6163056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 customer shopping trends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569964" y="2400300"/>
            <a:ext cx="5308092" cy="2948940"/>
            <a:chOff x="0" y="0"/>
            <a:chExt cx="7077456" cy="393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767328"/>
                  </a:lnTo>
                  <a:cubicBezTo>
                    <a:pt x="7077456" y="3858260"/>
                    <a:pt x="7003796" y="3931920"/>
                    <a:pt x="6912864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912864" y="2606040"/>
            <a:ext cx="1645920" cy="685800"/>
            <a:chOff x="0" y="0"/>
            <a:chExt cx="219456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194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7E0E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437876" y="274320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591495" y="2896819"/>
            <a:ext cx="652882" cy="652882"/>
            <a:chOff x="0" y="0"/>
            <a:chExt cx="870509" cy="870509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12864" y="3840480"/>
            <a:ext cx="4622292" cy="1303020"/>
            <a:chOff x="0" y="0"/>
            <a:chExt cx="6163056" cy="1737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630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20" r="0" b="-1912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85725"/>
              <a:ext cx="6163056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and preprocess the dataset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179808" y="2400300"/>
            <a:ext cx="5308092" cy="2948940"/>
            <a:chOff x="0" y="0"/>
            <a:chExt cx="7077456" cy="3931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767328"/>
                  </a:lnTo>
                  <a:cubicBezTo>
                    <a:pt x="7077456" y="3858260"/>
                    <a:pt x="7003796" y="3931920"/>
                    <a:pt x="6912864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2522708" y="2606040"/>
            <a:ext cx="1645920" cy="685800"/>
            <a:chOff x="0" y="0"/>
            <a:chExt cx="2194560" cy="914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194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7E0E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47720" y="2743200"/>
            <a:ext cx="960120" cy="960120"/>
            <a:chOff x="0" y="0"/>
            <a:chExt cx="128016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6201339" y="2896819"/>
            <a:ext cx="652882" cy="652882"/>
            <a:chOff x="0" y="0"/>
            <a:chExt cx="870509" cy="870509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522708" y="3840480"/>
            <a:ext cx="4622292" cy="1303020"/>
            <a:chOff x="0" y="0"/>
            <a:chExt cx="6163056" cy="1737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630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20" r="0" b="-191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85725"/>
              <a:ext cx="6163056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Visualize customer behavior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5692140"/>
            <a:ext cx="5308092" cy="2948940"/>
            <a:chOff x="0" y="0"/>
            <a:chExt cx="7077456" cy="3931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767328"/>
                  </a:lnTo>
                  <a:cubicBezTo>
                    <a:pt x="7077456" y="3858260"/>
                    <a:pt x="7003796" y="3931920"/>
                    <a:pt x="6912864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3020" y="5897880"/>
            <a:ext cx="1645920" cy="685800"/>
            <a:chOff x="0" y="0"/>
            <a:chExt cx="219456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2194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7E0E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828032" y="6035040"/>
            <a:ext cx="960120" cy="960120"/>
            <a:chOff x="0" y="0"/>
            <a:chExt cx="1280160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4981651" y="6188659"/>
            <a:ext cx="652882" cy="652882"/>
            <a:chOff x="0" y="0"/>
            <a:chExt cx="870509" cy="870509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03020" y="7132320"/>
            <a:ext cx="4622292" cy="1303020"/>
            <a:chOff x="0" y="0"/>
            <a:chExt cx="6163056" cy="17373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1630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20" r="0" b="-1912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6163056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 a Machine Learning model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69964" y="5692140"/>
            <a:ext cx="5308092" cy="2948940"/>
            <a:chOff x="0" y="0"/>
            <a:chExt cx="7077456" cy="3931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767328"/>
                  </a:lnTo>
                  <a:cubicBezTo>
                    <a:pt x="7077456" y="3858260"/>
                    <a:pt x="7003796" y="3931920"/>
                    <a:pt x="6912864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912864" y="5897880"/>
            <a:ext cx="1645920" cy="685800"/>
            <a:chOff x="0" y="0"/>
            <a:chExt cx="219456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2194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7E0E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437876" y="6035040"/>
            <a:ext cx="960120" cy="960120"/>
            <a:chOff x="0" y="0"/>
            <a:chExt cx="1280160" cy="128016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0591495" y="6188659"/>
            <a:ext cx="652882" cy="652882"/>
            <a:chOff x="0" y="0"/>
            <a:chExt cx="870509" cy="870509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912864" y="7132320"/>
            <a:ext cx="4622292" cy="1303020"/>
            <a:chOff x="0" y="0"/>
            <a:chExt cx="6163056" cy="17373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1630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20" r="0" b="-1912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85725"/>
              <a:ext cx="6163056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 customer subscription status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179808" y="5692140"/>
            <a:ext cx="5308092" cy="2948940"/>
            <a:chOff x="0" y="0"/>
            <a:chExt cx="7077456" cy="3931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6912864" y="0"/>
                  </a:lnTo>
                  <a:cubicBezTo>
                    <a:pt x="7003796" y="0"/>
                    <a:pt x="7077456" y="73660"/>
                    <a:pt x="7077456" y="164592"/>
                  </a:cubicBezTo>
                  <a:lnTo>
                    <a:pt x="7077456" y="3767328"/>
                  </a:lnTo>
                  <a:cubicBezTo>
                    <a:pt x="7077456" y="3858260"/>
                    <a:pt x="7003796" y="3931920"/>
                    <a:pt x="6912864" y="3931920"/>
                  </a:cubicBezTo>
                  <a:lnTo>
                    <a:pt x="164592" y="3931920"/>
                  </a:lnTo>
                  <a:cubicBezTo>
                    <a:pt x="73660" y="3931920"/>
                    <a:pt x="0" y="3858260"/>
                    <a:pt x="0" y="376732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522708" y="5897880"/>
            <a:ext cx="1645920" cy="685800"/>
            <a:chOff x="0" y="0"/>
            <a:chExt cx="2194560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194560" cy="914400"/>
            </a:xfrm>
            <a:custGeom>
              <a:avLst/>
              <a:gdLst/>
              <a:ahLst/>
              <a:cxnLst/>
              <a:rect r="r" b="b" t="t" l="l"/>
              <a:pathLst>
                <a:path h="914400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59" t="0" r="-3459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9525"/>
              <a:ext cx="219456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C7E0E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6047720" y="6035040"/>
            <a:ext cx="960120" cy="960120"/>
            <a:chOff x="0" y="0"/>
            <a:chExt cx="1280160" cy="12801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6201339" y="6188659"/>
            <a:ext cx="652882" cy="652882"/>
            <a:chOff x="0" y="0"/>
            <a:chExt cx="870509" cy="870509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-5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522708" y="7132320"/>
            <a:ext cx="4622292" cy="1303020"/>
            <a:chOff x="0" y="0"/>
            <a:chExt cx="6163056" cy="17373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63056" cy="1737360"/>
            </a:xfrm>
            <a:custGeom>
              <a:avLst/>
              <a:gdLst/>
              <a:ahLst/>
              <a:cxnLst/>
              <a:rect r="r" b="b" t="t" l="l"/>
              <a:pathLst>
                <a:path h="1737360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20" r="0" b="-1912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85725"/>
              <a:ext cx="6163056" cy="1823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0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 an interactive dashboard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WE'RE WORKING WITH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Information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68880"/>
            <a:ext cx="5486400" cy="2674620"/>
            <a:chOff x="0" y="0"/>
            <a:chExt cx="7315200" cy="3566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00" cy="3566160"/>
            </a:xfrm>
            <a:custGeom>
              <a:avLst/>
              <a:gdLst/>
              <a:ahLst/>
              <a:cxnLst/>
              <a:rect r="r" b="b" t="t" l="l"/>
              <a:pathLst>
                <a:path h="3566160" w="73152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150608" y="0"/>
                  </a:lnTo>
                  <a:cubicBezTo>
                    <a:pt x="7241540" y="0"/>
                    <a:pt x="7315200" y="73660"/>
                    <a:pt x="7315200" y="164592"/>
                  </a:cubicBezTo>
                  <a:lnTo>
                    <a:pt x="7315200" y="3401568"/>
                  </a:lnTo>
                  <a:cubicBezTo>
                    <a:pt x="7315200" y="3492500"/>
                    <a:pt x="7241540" y="3566160"/>
                    <a:pt x="7150608" y="3566160"/>
                  </a:cubicBezTo>
                  <a:lnTo>
                    <a:pt x="164592" y="3566160"/>
                  </a:lnTo>
                  <a:cubicBezTo>
                    <a:pt x="73660" y="3566160"/>
                    <a:pt x="0" y="3492500"/>
                    <a:pt x="0" y="3401568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4168" y="2770632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67612" y="2894076"/>
            <a:ext cx="576072" cy="576072"/>
            <a:chOff x="0" y="0"/>
            <a:chExt cx="768096" cy="76809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3497580"/>
            <a:ext cx="4937760" cy="822960"/>
            <a:chOff x="0" y="0"/>
            <a:chExt cx="658368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5836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120"/>
                </a:lnSpc>
              </a:pPr>
              <a:r>
                <a:rPr lang="en-US" sz="51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3,900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4361688"/>
            <a:ext cx="4937760" cy="548640"/>
            <a:chOff x="0" y="0"/>
            <a:chExt cx="65836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0" cy="731520"/>
            </a:xfrm>
            <a:custGeom>
              <a:avLst/>
              <a:gdLst/>
              <a:ahLst/>
              <a:cxnLst/>
              <a:rect r="r" b="b" t="t" l="l"/>
              <a:pathLst>
                <a:path h="7315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>
                  <a:solidFill>
                    <a:srgbClr val="B9D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Total Customer Records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5417820"/>
            <a:ext cx="5486400" cy="2743200"/>
            <a:chOff x="0" y="0"/>
            <a:chExt cx="7315200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73152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7150608" y="0"/>
                  </a:lnTo>
                  <a:cubicBezTo>
                    <a:pt x="7241540" y="0"/>
                    <a:pt x="7315200" y="73660"/>
                    <a:pt x="7315200" y="164592"/>
                  </a:cubicBezTo>
                  <a:lnTo>
                    <a:pt x="7315200" y="3493008"/>
                  </a:lnTo>
                  <a:cubicBezTo>
                    <a:pt x="7315200" y="3583940"/>
                    <a:pt x="7241540" y="3657600"/>
                    <a:pt x="7150608" y="3657600"/>
                  </a:cubicBezTo>
                  <a:lnTo>
                    <a:pt x="164592" y="3657600"/>
                  </a:lnTo>
                  <a:cubicBezTo>
                    <a:pt x="73660" y="3657600"/>
                    <a:pt x="0" y="3583940"/>
                    <a:pt x="0" y="349300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5760720"/>
            <a:ext cx="891540" cy="891540"/>
            <a:chOff x="0" y="0"/>
            <a:chExt cx="118872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887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514246" y="5903366"/>
            <a:ext cx="606247" cy="606247"/>
            <a:chOff x="0" y="0"/>
            <a:chExt cx="808330" cy="80833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468880" y="5733288"/>
            <a:ext cx="3703320" cy="411480"/>
            <a:chOff x="0" y="0"/>
            <a:chExt cx="493776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776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 Name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71600" y="6377940"/>
            <a:ext cx="4732020" cy="1508760"/>
            <a:chOff x="0" y="0"/>
            <a:chExt cx="6309360" cy="20116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309360" cy="2011680"/>
            </a:xfrm>
            <a:custGeom>
              <a:avLst/>
              <a:gdLst/>
              <a:ahLst/>
              <a:cxnLst/>
              <a:rect r="r" b="b" t="t" l="l"/>
              <a:pathLst>
                <a:path h="20116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12" r="0" b="-1111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309360" cy="2068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5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Customer Shopping</a:t>
              </a:r>
            </a:p>
            <a:p>
              <a:pPr algn="l">
                <a:lnSpc>
                  <a:spcPts val="3415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Trends Dataset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926580" y="2537460"/>
            <a:ext cx="8229600" cy="411480"/>
            <a:chOff x="0" y="0"/>
            <a:chExt cx="109728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IMPORTANT FEATURES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926580" y="3086100"/>
            <a:ext cx="3360420" cy="1947672"/>
            <a:chOff x="0" y="0"/>
            <a:chExt cx="4480560" cy="25968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195310" y="3332988"/>
            <a:ext cx="822960" cy="822960"/>
            <a:chOff x="0" y="0"/>
            <a:chExt cx="1097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318754" y="3456432"/>
            <a:ext cx="576072" cy="576072"/>
            <a:chOff x="0" y="0"/>
            <a:chExt cx="768096" cy="768096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063740" y="4251960"/>
            <a:ext cx="3086100" cy="685800"/>
            <a:chOff x="0" y="0"/>
            <a:chExt cx="41148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533888" y="3086100"/>
            <a:ext cx="3360420" cy="1947672"/>
            <a:chOff x="0" y="0"/>
            <a:chExt cx="4480560" cy="25968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02618" y="3332988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926062" y="3456432"/>
            <a:ext cx="576072" cy="576072"/>
            <a:chOff x="0" y="0"/>
            <a:chExt cx="768096" cy="768096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671048" y="4251960"/>
            <a:ext cx="3086100" cy="685800"/>
            <a:chOff x="0" y="0"/>
            <a:chExt cx="41148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Gender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141196" y="3086100"/>
            <a:ext cx="3360420" cy="1947672"/>
            <a:chOff x="0" y="0"/>
            <a:chExt cx="4480560" cy="2596896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409926" y="3332988"/>
            <a:ext cx="822960" cy="822960"/>
            <a:chOff x="0" y="0"/>
            <a:chExt cx="109728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5533370" y="3456432"/>
            <a:ext cx="576072" cy="576072"/>
            <a:chOff x="0" y="0"/>
            <a:chExt cx="768096" cy="768096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278356" y="4251960"/>
            <a:ext cx="3086100" cy="685800"/>
            <a:chOff x="0" y="0"/>
            <a:chExt cx="411480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926580" y="5280660"/>
            <a:ext cx="3360420" cy="1947672"/>
            <a:chOff x="0" y="0"/>
            <a:chExt cx="4480560" cy="25968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195310" y="5527548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318754" y="5650992"/>
            <a:ext cx="576072" cy="576072"/>
            <a:chOff x="0" y="0"/>
            <a:chExt cx="768096" cy="768096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063740" y="6446520"/>
            <a:ext cx="3086100" cy="685800"/>
            <a:chOff x="0" y="0"/>
            <a:chExt cx="4114800" cy="914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Purchase Amount (USD)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533888" y="5280660"/>
            <a:ext cx="3360420" cy="1947672"/>
            <a:chOff x="0" y="0"/>
            <a:chExt cx="4480560" cy="2596896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802618" y="5527548"/>
            <a:ext cx="822960" cy="822960"/>
            <a:chOff x="0" y="0"/>
            <a:chExt cx="109728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1926062" y="5650992"/>
            <a:ext cx="576072" cy="576072"/>
            <a:chOff x="0" y="0"/>
            <a:chExt cx="768096" cy="768096"/>
          </a:xfrm>
        </p:grpSpPr>
        <p:sp>
          <p:nvSpPr>
            <p:cNvPr name="Freeform 76" id="76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671048" y="6446520"/>
            <a:ext cx="3086100" cy="685800"/>
            <a:chOff x="0" y="0"/>
            <a:chExt cx="411480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 Rating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141196" y="5280660"/>
            <a:ext cx="3360420" cy="1947672"/>
            <a:chOff x="0" y="0"/>
            <a:chExt cx="4480560" cy="259689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409926" y="5527548"/>
            <a:ext cx="822960" cy="822960"/>
            <a:chOff x="0" y="0"/>
            <a:chExt cx="1097280" cy="1097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5533370" y="5650992"/>
            <a:ext cx="576072" cy="576072"/>
            <a:chOff x="0" y="0"/>
            <a:chExt cx="768096" cy="768096"/>
          </a:xfrm>
        </p:grpSpPr>
        <p:sp>
          <p:nvSpPr>
            <p:cNvPr name="Freeform 85" id="85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4278356" y="6446520"/>
            <a:ext cx="3086100" cy="685800"/>
            <a:chOff x="0" y="0"/>
            <a:chExt cx="4114800" cy="914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Subscription Status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926580" y="7475220"/>
            <a:ext cx="3360420" cy="1947672"/>
            <a:chOff x="0" y="0"/>
            <a:chExt cx="4480560" cy="2596896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8195310" y="7722108"/>
            <a:ext cx="822960" cy="822960"/>
            <a:chOff x="0" y="0"/>
            <a:chExt cx="1097280" cy="109728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8318754" y="7845552"/>
            <a:ext cx="576072" cy="576072"/>
            <a:chOff x="0" y="0"/>
            <a:chExt cx="768096" cy="768096"/>
          </a:xfrm>
        </p:grpSpPr>
        <p:sp>
          <p:nvSpPr>
            <p:cNvPr name="Freeform 94" id="94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063740" y="8641080"/>
            <a:ext cx="3086100" cy="685800"/>
            <a:chOff x="0" y="0"/>
            <a:chExt cx="4114800" cy="9144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Previous Purchases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533888" y="7475220"/>
            <a:ext cx="3360420" cy="1947672"/>
            <a:chOff x="0" y="0"/>
            <a:chExt cx="4480560" cy="259689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1802618" y="7722108"/>
            <a:ext cx="822960" cy="822960"/>
            <a:chOff x="0" y="0"/>
            <a:chExt cx="1097280" cy="109728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1926062" y="7845552"/>
            <a:ext cx="576072" cy="576072"/>
            <a:chOff x="0" y="0"/>
            <a:chExt cx="768096" cy="768096"/>
          </a:xfrm>
        </p:grpSpPr>
        <p:sp>
          <p:nvSpPr>
            <p:cNvPr name="Freeform 103" id="103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671048" y="8641080"/>
            <a:ext cx="3086100" cy="685800"/>
            <a:chOff x="0" y="0"/>
            <a:chExt cx="4114800" cy="9144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Payment Method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4141196" y="7475220"/>
            <a:ext cx="3360420" cy="1947672"/>
            <a:chOff x="0" y="0"/>
            <a:chExt cx="4480560" cy="259689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480560" cy="2596896"/>
            </a:xfrm>
            <a:custGeom>
              <a:avLst/>
              <a:gdLst/>
              <a:ahLst/>
              <a:cxnLst/>
              <a:rect r="r" b="b" t="t" l="l"/>
              <a:pathLst>
                <a:path h="2596896" w="44805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315968" y="0"/>
                  </a:lnTo>
                  <a:cubicBezTo>
                    <a:pt x="4406900" y="0"/>
                    <a:pt x="4480560" y="73660"/>
                    <a:pt x="4480560" y="164592"/>
                  </a:cubicBezTo>
                  <a:lnTo>
                    <a:pt x="4480560" y="2432304"/>
                  </a:lnTo>
                  <a:cubicBezTo>
                    <a:pt x="4480560" y="2523236"/>
                    <a:pt x="4406900" y="2596896"/>
                    <a:pt x="4315968" y="2596896"/>
                  </a:cubicBezTo>
                  <a:lnTo>
                    <a:pt x="164592" y="2596896"/>
                  </a:lnTo>
                  <a:cubicBezTo>
                    <a:pt x="73660" y="2596896"/>
                    <a:pt x="0" y="2523236"/>
                    <a:pt x="0" y="2432304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5409926" y="7722108"/>
            <a:ext cx="822960" cy="822960"/>
            <a:chOff x="0" y="0"/>
            <a:chExt cx="1097280" cy="109728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5533370" y="7845552"/>
            <a:ext cx="576072" cy="576072"/>
            <a:chOff x="0" y="0"/>
            <a:chExt cx="768096" cy="768096"/>
          </a:xfrm>
        </p:grpSpPr>
        <p:sp>
          <p:nvSpPr>
            <p:cNvPr name="Freeform 112" id="112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4278356" y="8641080"/>
            <a:ext cx="3086100" cy="685800"/>
            <a:chOff x="0" y="0"/>
            <a:chExt cx="4114800" cy="9144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114800" cy="914400"/>
            </a:xfrm>
            <a:custGeom>
              <a:avLst/>
              <a:gdLst/>
              <a:ahLst/>
              <a:cxnLst/>
              <a:rect r="r" b="b" t="t" l="l"/>
              <a:pathLst>
                <a:path h="914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41148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Location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GETTING THE DATA READY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Cleaning &amp; Preprocessing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8290" y="3752850"/>
            <a:ext cx="38100" cy="1958340"/>
            <a:chOff x="0" y="0"/>
            <a:chExt cx="50800" cy="261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" cy="2611120"/>
            </a:xfrm>
            <a:custGeom>
              <a:avLst/>
              <a:gdLst/>
              <a:ahLst/>
              <a:cxnLst/>
              <a:rect r="r" b="b" t="t" l="l"/>
              <a:pathLst>
                <a:path h="2611120" w="50800">
                  <a:moveTo>
                    <a:pt x="0" y="0"/>
                  </a:moveTo>
                  <a:lnTo>
                    <a:pt x="50800" y="26111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544803" t="0" r="-6544803" b="0"/>
              </a:stretch>
            </a:blipFill>
            <a:ln w="38100" cap="sq">
              <a:solidFill>
                <a:srgbClr val="C7E0E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06040"/>
            <a:ext cx="1234440" cy="1234440"/>
            <a:chOff x="0" y="0"/>
            <a:chExt cx="1645920" cy="1645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2606040"/>
            <a:ext cx="1234440" cy="1234440"/>
            <a:chOff x="0" y="0"/>
            <a:chExt cx="164592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468880" y="2715768"/>
            <a:ext cx="630936" cy="630936"/>
            <a:chOff x="0" y="0"/>
            <a:chExt cx="841248" cy="84124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291840" y="2537460"/>
            <a:ext cx="5554980" cy="1371600"/>
            <a:chOff x="0" y="0"/>
            <a:chExt cx="7406640" cy="182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06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4066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Loaded dataset using Pandas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58290" y="5878830"/>
            <a:ext cx="38100" cy="1958340"/>
            <a:chOff x="0" y="0"/>
            <a:chExt cx="50800" cy="261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800" cy="2611120"/>
            </a:xfrm>
            <a:custGeom>
              <a:avLst/>
              <a:gdLst/>
              <a:ahLst/>
              <a:cxnLst/>
              <a:rect r="r" b="b" t="t" l="l"/>
              <a:pathLst>
                <a:path h="2611120" w="50800">
                  <a:moveTo>
                    <a:pt x="0" y="0"/>
                  </a:moveTo>
                  <a:lnTo>
                    <a:pt x="50800" y="26111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544803" t="0" r="-6544803" b="0"/>
              </a:stretch>
            </a:blipFill>
            <a:ln w="38100" cap="sq">
              <a:solidFill>
                <a:srgbClr val="C7E0E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" y="4732020"/>
            <a:ext cx="1234440" cy="1234440"/>
            <a:chOff x="0" y="0"/>
            <a:chExt cx="1645920" cy="1645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60120" y="4732020"/>
            <a:ext cx="1234440" cy="1234440"/>
            <a:chOff x="0" y="0"/>
            <a:chExt cx="164592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468880" y="4841748"/>
            <a:ext cx="630936" cy="630936"/>
            <a:chOff x="0" y="0"/>
            <a:chExt cx="841248" cy="84124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291840" y="4663440"/>
            <a:ext cx="5554980" cy="1371600"/>
            <a:chOff x="0" y="0"/>
            <a:chExt cx="740664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06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74066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Checked missing values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0120" y="6858000"/>
            <a:ext cx="1234440" cy="1234440"/>
            <a:chOff x="0" y="0"/>
            <a:chExt cx="1645920" cy="1645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120" y="6858000"/>
            <a:ext cx="1234440" cy="1234440"/>
            <a:chOff x="0" y="0"/>
            <a:chExt cx="164592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468880" y="6967728"/>
            <a:ext cx="630936" cy="630936"/>
            <a:chOff x="0" y="0"/>
            <a:chExt cx="841248" cy="841248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291840" y="6789420"/>
            <a:ext cx="5554980" cy="1371600"/>
            <a:chOff x="0" y="0"/>
            <a:chExt cx="7406640" cy="1828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406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66675"/>
              <a:ext cx="74066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Removed duplicate records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993630" y="3752850"/>
            <a:ext cx="38100" cy="1958340"/>
            <a:chOff x="0" y="0"/>
            <a:chExt cx="50800" cy="26111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00" cy="2611120"/>
            </a:xfrm>
            <a:custGeom>
              <a:avLst/>
              <a:gdLst/>
              <a:ahLst/>
              <a:cxnLst/>
              <a:rect r="r" b="b" t="t" l="l"/>
              <a:pathLst>
                <a:path h="2611120" w="50800">
                  <a:moveTo>
                    <a:pt x="0" y="0"/>
                  </a:moveTo>
                  <a:lnTo>
                    <a:pt x="50800" y="26111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544803" t="0" r="-6544803" b="0"/>
              </a:stretch>
            </a:blipFill>
            <a:ln w="38100" cap="sq">
              <a:solidFill>
                <a:srgbClr val="C7E0E0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395460" y="2606040"/>
            <a:ext cx="1234440" cy="1234440"/>
            <a:chOff x="0" y="0"/>
            <a:chExt cx="1645920" cy="16459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95460" y="2606040"/>
            <a:ext cx="1234440" cy="1234440"/>
            <a:chOff x="0" y="0"/>
            <a:chExt cx="1645920" cy="16459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904220" y="2715768"/>
            <a:ext cx="630936" cy="630936"/>
            <a:chOff x="0" y="0"/>
            <a:chExt cx="841248" cy="841248"/>
          </a:xfrm>
        </p:grpSpPr>
        <p:sp>
          <p:nvSpPr>
            <p:cNvPr name="Freeform 50" id="50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727180" y="2537460"/>
            <a:ext cx="5554980" cy="1371600"/>
            <a:chOff x="0" y="0"/>
            <a:chExt cx="740664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06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74066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Cleaned column names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993630" y="5878830"/>
            <a:ext cx="38100" cy="1958340"/>
            <a:chOff x="0" y="0"/>
            <a:chExt cx="50800" cy="26111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0800" cy="2611120"/>
            </a:xfrm>
            <a:custGeom>
              <a:avLst/>
              <a:gdLst/>
              <a:ahLst/>
              <a:cxnLst/>
              <a:rect r="r" b="b" t="t" l="l"/>
              <a:pathLst>
                <a:path h="2611120" w="50800">
                  <a:moveTo>
                    <a:pt x="0" y="0"/>
                  </a:moveTo>
                  <a:lnTo>
                    <a:pt x="50800" y="261112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6544803" t="0" r="-6544803" b="0"/>
              </a:stretch>
            </a:blipFill>
            <a:ln w="38100" cap="sq">
              <a:solidFill>
                <a:srgbClr val="C7E0E0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395460" y="4732020"/>
            <a:ext cx="1234440" cy="1234440"/>
            <a:chOff x="0" y="0"/>
            <a:chExt cx="1645920" cy="1645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395460" y="4732020"/>
            <a:ext cx="1234440" cy="1234440"/>
            <a:chOff x="0" y="0"/>
            <a:chExt cx="1645920" cy="16459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904220" y="4841748"/>
            <a:ext cx="630936" cy="630936"/>
            <a:chOff x="0" y="0"/>
            <a:chExt cx="841248" cy="841248"/>
          </a:xfrm>
        </p:grpSpPr>
        <p:sp>
          <p:nvSpPr>
            <p:cNvPr name="Freeform 62" id="62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27180" y="4663440"/>
            <a:ext cx="5554980" cy="1371600"/>
            <a:chOff x="0" y="0"/>
            <a:chExt cx="7406640" cy="1828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06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74066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Converted categorical data using Label Encoding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395460" y="6858000"/>
            <a:ext cx="1234440" cy="1234440"/>
            <a:chOff x="0" y="0"/>
            <a:chExt cx="1645920" cy="16459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9395460" y="6858000"/>
            <a:ext cx="1234440" cy="1234440"/>
            <a:chOff x="0" y="0"/>
            <a:chExt cx="1645920" cy="16459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16459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904220" y="6967728"/>
            <a:ext cx="630936" cy="630936"/>
            <a:chOff x="0" y="0"/>
            <a:chExt cx="841248" cy="841248"/>
          </a:xfrm>
        </p:grpSpPr>
        <p:sp>
          <p:nvSpPr>
            <p:cNvPr name="Freeform 72" id="72" descr="preencoded.png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0"/>
                  </a:moveTo>
                  <a:lnTo>
                    <a:pt x="841248" y="0"/>
                  </a:lnTo>
                  <a:lnTo>
                    <a:pt x="841248" y="841248"/>
                  </a:lnTo>
                  <a:lnTo>
                    <a:pt x="0" y="8412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727180" y="6789420"/>
            <a:ext cx="5554980" cy="1371600"/>
            <a:chOff x="0" y="0"/>
            <a:chExt cx="7406640" cy="1828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4066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406640">
                  <a:moveTo>
                    <a:pt x="0" y="0"/>
                  </a:moveTo>
                  <a:lnTo>
                    <a:pt x="7406640" y="0"/>
                  </a:lnTo>
                  <a:lnTo>
                    <a:pt x="74066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7406640" cy="1895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1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Prepared dataset for Machine Learning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BUILDING THE PREDICTOR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Machine Learning Model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468880"/>
            <a:ext cx="7543800" cy="2057400"/>
            <a:chOff x="0" y="0"/>
            <a:chExt cx="10058400" cy="274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058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893808" y="0"/>
                  </a:lnTo>
                  <a:cubicBezTo>
                    <a:pt x="9984740" y="0"/>
                    <a:pt x="10058400" y="73660"/>
                    <a:pt x="10058400" y="164592"/>
                  </a:cubicBezTo>
                  <a:lnTo>
                    <a:pt x="10058400" y="2578608"/>
                  </a:lnTo>
                  <a:cubicBezTo>
                    <a:pt x="10058400" y="2669540"/>
                    <a:pt x="9984740" y="2743200"/>
                    <a:pt x="9893808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44168" y="2770632"/>
            <a:ext cx="1303020" cy="1303020"/>
            <a:chOff x="0" y="0"/>
            <a:chExt cx="173736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39621" y="2966085"/>
            <a:ext cx="912114" cy="912114"/>
            <a:chOff x="0" y="0"/>
            <a:chExt cx="1216152" cy="1216152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216152" cy="1216152"/>
            </a:xfrm>
            <a:custGeom>
              <a:avLst/>
              <a:gdLst/>
              <a:ahLst/>
              <a:cxnLst/>
              <a:rect r="r" b="b" t="t" l="l"/>
              <a:pathLst>
                <a:path h="1216152" w="1216152">
                  <a:moveTo>
                    <a:pt x="0" y="0"/>
                  </a:moveTo>
                  <a:lnTo>
                    <a:pt x="1216152" y="0"/>
                  </a:lnTo>
                  <a:lnTo>
                    <a:pt x="1216152" y="1216152"/>
                  </a:lnTo>
                  <a:lnTo>
                    <a:pt x="0" y="1216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80360" y="2715768"/>
            <a:ext cx="5212080" cy="411480"/>
            <a:chOff x="0" y="0"/>
            <a:chExt cx="694944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49440" cy="548640"/>
            </a:xfrm>
            <a:custGeom>
              <a:avLst/>
              <a:gdLst/>
              <a:ahLst/>
              <a:cxnLst/>
              <a:rect r="r" b="b" t="t" l="l"/>
              <a:pathLst>
                <a:path h="54864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810" r="0" b="-19681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69494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25">
                  <a:solidFill>
                    <a:srgbClr val="82A6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USED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80360" y="3154680"/>
            <a:ext cx="5486400" cy="1028700"/>
            <a:chOff x="0" y="0"/>
            <a:chExt cx="731520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20" r="0" b="-539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7315200" cy="1428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58"/>
                </a:lnSpc>
              </a:pPr>
              <a:r>
                <a:rPr lang="en-US" sz="31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Decision Tree Classifier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0120" y="4869180"/>
            <a:ext cx="6858000" cy="411480"/>
            <a:chOff x="0" y="0"/>
            <a:chExt cx="9144000" cy="548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DECISION TREE?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87552" y="5458968"/>
            <a:ext cx="438912" cy="438912"/>
            <a:chOff x="0" y="0"/>
            <a:chExt cx="585216" cy="585216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5920" y="5335524"/>
            <a:ext cx="6720840" cy="617220"/>
            <a:chOff x="0" y="0"/>
            <a:chExt cx="896112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961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329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Easy to understand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552" y="6254496"/>
            <a:ext cx="438912" cy="438912"/>
            <a:chOff x="0" y="0"/>
            <a:chExt cx="585216" cy="585216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5920" y="6131052"/>
            <a:ext cx="6720840" cy="617220"/>
            <a:chOff x="0" y="0"/>
            <a:chExt cx="8961120" cy="8229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8961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329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Fast training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87552" y="7050024"/>
            <a:ext cx="438912" cy="438912"/>
            <a:chOff x="0" y="0"/>
            <a:chExt cx="585216" cy="585216"/>
          </a:xfrm>
        </p:grpSpPr>
        <p:sp>
          <p:nvSpPr>
            <p:cNvPr name="Freeform 34" id="34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45920" y="6926580"/>
            <a:ext cx="6720840" cy="617220"/>
            <a:chOff x="0" y="0"/>
            <a:chExt cx="896112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8961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329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Good classification performance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7552" y="7845552"/>
            <a:ext cx="438912" cy="438912"/>
            <a:chOff x="0" y="0"/>
            <a:chExt cx="585216" cy="585216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45920" y="7722108"/>
            <a:ext cx="6720840" cy="617220"/>
            <a:chOff x="0" y="0"/>
            <a:chExt cx="8961120" cy="8229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961120" cy="822960"/>
            </a:xfrm>
            <a:custGeom>
              <a:avLst/>
              <a:gdLst/>
              <a:ahLst/>
              <a:cxnLst/>
              <a:rect r="r" b="b" t="t" l="l"/>
              <a:pathLst>
                <a:path h="8229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170" r="0" b="-1621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8961120" cy="8705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3293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Suitable for customer prediction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01200" y="2125980"/>
            <a:ext cx="6858000" cy="411480"/>
            <a:chOff x="0" y="0"/>
            <a:chExt cx="9144000" cy="5486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PROCESS FLOW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601200" y="2674620"/>
            <a:ext cx="6720840" cy="932688"/>
            <a:chOff x="0" y="0"/>
            <a:chExt cx="8961120" cy="12435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796528" y="0"/>
                  </a:lnTo>
                  <a:cubicBezTo>
                    <a:pt x="8887460" y="0"/>
                    <a:pt x="8961120" y="73660"/>
                    <a:pt x="8961120" y="164592"/>
                  </a:cubicBezTo>
                  <a:lnTo>
                    <a:pt x="8961120" y="1078992"/>
                  </a:lnTo>
                  <a:cubicBezTo>
                    <a:pt x="8961120" y="1169924"/>
                    <a:pt x="8887460" y="1243584"/>
                    <a:pt x="8796528" y="1243584"/>
                  </a:cubicBezTo>
                  <a:lnTo>
                    <a:pt x="164592" y="1243584"/>
                  </a:lnTo>
                  <a:cubicBezTo>
                    <a:pt x="73660" y="1243584"/>
                    <a:pt x="0" y="1169924"/>
                    <a:pt x="0" y="1078992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601200" y="2674620"/>
            <a:ext cx="6720840" cy="932688"/>
            <a:chOff x="0" y="0"/>
            <a:chExt cx="8961120" cy="12435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8961120" cy="1291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Dataset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783312" y="3634740"/>
            <a:ext cx="356616" cy="356616"/>
            <a:chOff x="0" y="0"/>
            <a:chExt cx="475488" cy="475488"/>
          </a:xfrm>
        </p:grpSpPr>
        <p:sp>
          <p:nvSpPr>
            <p:cNvPr name="Freeform 52" id="52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01200" y="3909060"/>
            <a:ext cx="6720840" cy="932688"/>
            <a:chOff x="0" y="0"/>
            <a:chExt cx="8961120" cy="12435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796528" y="0"/>
                  </a:lnTo>
                  <a:cubicBezTo>
                    <a:pt x="8887460" y="0"/>
                    <a:pt x="8961120" y="73660"/>
                    <a:pt x="8961120" y="164592"/>
                  </a:cubicBezTo>
                  <a:lnTo>
                    <a:pt x="8961120" y="1078992"/>
                  </a:lnTo>
                  <a:cubicBezTo>
                    <a:pt x="8961120" y="1169924"/>
                    <a:pt x="8887460" y="1243584"/>
                    <a:pt x="8796528" y="1243584"/>
                  </a:cubicBezTo>
                  <a:lnTo>
                    <a:pt x="164592" y="1243584"/>
                  </a:lnTo>
                  <a:cubicBezTo>
                    <a:pt x="73660" y="1243584"/>
                    <a:pt x="0" y="1169924"/>
                    <a:pt x="0" y="1078992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01200" y="3909060"/>
            <a:ext cx="6720840" cy="932688"/>
            <a:chOff x="0" y="0"/>
            <a:chExt cx="8961120" cy="12435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961120" cy="1291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Train-Test Split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783312" y="4869180"/>
            <a:ext cx="356616" cy="356616"/>
            <a:chOff x="0" y="0"/>
            <a:chExt cx="475488" cy="475488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601200" y="5143500"/>
            <a:ext cx="6720840" cy="932688"/>
            <a:chOff x="0" y="0"/>
            <a:chExt cx="8961120" cy="12435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796528" y="0"/>
                  </a:lnTo>
                  <a:cubicBezTo>
                    <a:pt x="8887460" y="0"/>
                    <a:pt x="8961120" y="73660"/>
                    <a:pt x="8961120" y="164592"/>
                  </a:cubicBezTo>
                  <a:lnTo>
                    <a:pt x="8961120" y="1078992"/>
                  </a:lnTo>
                  <a:cubicBezTo>
                    <a:pt x="8961120" y="1169924"/>
                    <a:pt x="8887460" y="1243584"/>
                    <a:pt x="8796528" y="1243584"/>
                  </a:cubicBezTo>
                  <a:lnTo>
                    <a:pt x="164592" y="1243584"/>
                  </a:lnTo>
                  <a:cubicBezTo>
                    <a:pt x="73660" y="1243584"/>
                    <a:pt x="0" y="1169924"/>
                    <a:pt x="0" y="1078992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01200" y="5143500"/>
            <a:ext cx="6720840" cy="932688"/>
            <a:chOff x="0" y="0"/>
            <a:chExt cx="8961120" cy="12435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961120" cy="1291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Training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783312" y="6103620"/>
            <a:ext cx="356616" cy="356616"/>
            <a:chOff x="0" y="0"/>
            <a:chExt cx="475488" cy="475488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601200" y="6377940"/>
            <a:ext cx="6720840" cy="932688"/>
            <a:chOff x="0" y="0"/>
            <a:chExt cx="8961120" cy="124358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796528" y="0"/>
                  </a:lnTo>
                  <a:cubicBezTo>
                    <a:pt x="8887460" y="0"/>
                    <a:pt x="8961120" y="73660"/>
                    <a:pt x="8961120" y="164592"/>
                  </a:cubicBezTo>
                  <a:lnTo>
                    <a:pt x="8961120" y="1078992"/>
                  </a:lnTo>
                  <a:cubicBezTo>
                    <a:pt x="8961120" y="1169924"/>
                    <a:pt x="8887460" y="1243584"/>
                    <a:pt x="8796528" y="1243584"/>
                  </a:cubicBezTo>
                  <a:lnTo>
                    <a:pt x="164592" y="1243584"/>
                  </a:lnTo>
                  <a:cubicBezTo>
                    <a:pt x="73660" y="1243584"/>
                    <a:pt x="0" y="1169924"/>
                    <a:pt x="0" y="1078992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601200" y="6377940"/>
            <a:ext cx="6720840" cy="932688"/>
            <a:chOff x="0" y="0"/>
            <a:chExt cx="8961120" cy="12435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8961120" cy="1291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783312" y="7338060"/>
            <a:ext cx="356616" cy="356616"/>
            <a:chOff x="0" y="0"/>
            <a:chExt cx="475488" cy="475488"/>
          </a:xfrm>
        </p:grpSpPr>
        <p:sp>
          <p:nvSpPr>
            <p:cNvPr name="Freeform 73" id="73" descr="preencoded.png"/>
            <p:cNvSpPr/>
            <p:nvPr/>
          </p:nvSpPr>
          <p:spPr>
            <a:xfrm flipH="false" flipV="false" rot="0">
              <a:off x="0" y="0"/>
              <a:ext cx="475488" cy="475488"/>
            </a:xfrm>
            <a:custGeom>
              <a:avLst/>
              <a:gdLst/>
              <a:ahLst/>
              <a:cxnLst/>
              <a:rect r="r" b="b" t="t" l="l"/>
              <a:pathLst>
                <a:path h="475488" w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01200" y="7612380"/>
            <a:ext cx="6720840" cy="932688"/>
            <a:chOff x="0" y="0"/>
            <a:chExt cx="8961120" cy="1243584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8796528" y="0"/>
                  </a:lnTo>
                  <a:cubicBezTo>
                    <a:pt x="8887460" y="0"/>
                    <a:pt x="8961120" y="73660"/>
                    <a:pt x="8961120" y="164592"/>
                  </a:cubicBezTo>
                  <a:lnTo>
                    <a:pt x="8961120" y="1078992"/>
                  </a:lnTo>
                  <a:cubicBezTo>
                    <a:pt x="8961120" y="1169924"/>
                    <a:pt x="8887460" y="1243584"/>
                    <a:pt x="8796528" y="1243584"/>
                  </a:cubicBezTo>
                  <a:lnTo>
                    <a:pt x="164592" y="1243584"/>
                  </a:lnTo>
                  <a:cubicBezTo>
                    <a:pt x="73660" y="1243584"/>
                    <a:pt x="0" y="1169924"/>
                    <a:pt x="0" y="1078992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01200" y="7612380"/>
            <a:ext cx="6720840" cy="932688"/>
            <a:chOff x="0" y="0"/>
            <a:chExt cx="8961120" cy="124358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961120" cy="1243584"/>
            </a:xfrm>
            <a:custGeom>
              <a:avLst/>
              <a:gdLst/>
              <a:ahLst/>
              <a:cxnLst/>
              <a:rect r="r" b="b" t="t" l="l"/>
              <a:pathLst>
                <a:path h="1243584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406" r="0" b="-9040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8961120" cy="12912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0"/>
                </a:lnSpc>
              </a:pPr>
              <a:r>
                <a:rPr lang="en-US" sz="21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Accuracy Evaluation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BRINGING IT TO LIFE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 Features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7543800" cy="6789420"/>
            <a:chOff x="0" y="0"/>
            <a:chExt cx="10058400" cy="90525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058400" cy="9052561"/>
            </a:xfrm>
            <a:custGeom>
              <a:avLst/>
              <a:gdLst/>
              <a:ahLst/>
              <a:cxnLst/>
              <a:rect r="r" b="b" t="t" l="l"/>
              <a:pathLst>
                <a:path h="9052561" w="100584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9893808" y="0"/>
                  </a:lnTo>
                  <a:cubicBezTo>
                    <a:pt x="9984740" y="0"/>
                    <a:pt x="10058400" y="73660"/>
                    <a:pt x="10058400" y="164592"/>
                  </a:cubicBezTo>
                  <a:lnTo>
                    <a:pt x="10058400" y="8887968"/>
                  </a:lnTo>
                  <a:cubicBezTo>
                    <a:pt x="10058400" y="8978900"/>
                    <a:pt x="9984740" y="9052561"/>
                    <a:pt x="9893808" y="9052561"/>
                  </a:cubicBezTo>
                  <a:lnTo>
                    <a:pt x="164592" y="9052561"/>
                  </a:lnTo>
                  <a:cubicBezTo>
                    <a:pt x="73660" y="9052560"/>
                    <a:pt x="0" y="8978900"/>
                    <a:pt x="0" y="88879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" y="2880360"/>
            <a:ext cx="6172200" cy="411480"/>
            <a:chOff x="0" y="0"/>
            <a:chExt cx="82296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USING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0180" y="3497580"/>
            <a:ext cx="1028700" cy="1028700"/>
            <a:chOff x="0" y="0"/>
            <a:chExt cx="137160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94485" y="3651885"/>
            <a:ext cx="720090" cy="720090"/>
            <a:chOff x="0" y="0"/>
            <a:chExt cx="960120" cy="960120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60120" cy="960120"/>
            </a:xfrm>
            <a:custGeom>
              <a:avLst/>
              <a:gdLst/>
              <a:ahLst/>
              <a:cxnLst/>
              <a:rect r="r" b="b" t="t" l="l"/>
              <a:pathLst>
                <a:path h="960120" w="960120">
                  <a:moveTo>
                    <a:pt x="0" y="0"/>
                  </a:moveTo>
                  <a:lnTo>
                    <a:pt x="960120" y="0"/>
                  </a:lnTo>
                  <a:lnTo>
                    <a:pt x="960120" y="960120"/>
                  </a:lnTo>
                  <a:lnTo>
                    <a:pt x="0" y="960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43200" y="3497580"/>
            <a:ext cx="5349240" cy="1028700"/>
            <a:chOff x="0" y="0"/>
            <a:chExt cx="7132320" cy="1371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32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132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Python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40180" y="4841748"/>
            <a:ext cx="1028700" cy="1028700"/>
            <a:chOff x="0" y="0"/>
            <a:chExt cx="1371600" cy="1371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94485" y="4996053"/>
            <a:ext cx="720090" cy="720090"/>
            <a:chOff x="0" y="0"/>
            <a:chExt cx="960120" cy="96012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960120" cy="960120"/>
            </a:xfrm>
            <a:custGeom>
              <a:avLst/>
              <a:gdLst/>
              <a:ahLst/>
              <a:cxnLst/>
              <a:rect r="r" b="b" t="t" l="l"/>
              <a:pathLst>
                <a:path h="960120" w="960120">
                  <a:moveTo>
                    <a:pt x="0" y="0"/>
                  </a:moveTo>
                  <a:lnTo>
                    <a:pt x="960120" y="0"/>
                  </a:lnTo>
                  <a:lnTo>
                    <a:pt x="960120" y="960120"/>
                  </a:lnTo>
                  <a:lnTo>
                    <a:pt x="0" y="960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743200" y="4841748"/>
            <a:ext cx="5349240" cy="1028700"/>
            <a:chOff x="0" y="0"/>
            <a:chExt cx="7132320" cy="1371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32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7132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Pandas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40180" y="6185916"/>
            <a:ext cx="1028700" cy="1028700"/>
            <a:chOff x="0" y="0"/>
            <a:chExt cx="1371600" cy="1371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94485" y="6340221"/>
            <a:ext cx="720090" cy="720090"/>
            <a:chOff x="0" y="0"/>
            <a:chExt cx="960120" cy="960120"/>
          </a:xfrm>
        </p:grpSpPr>
        <p:sp>
          <p:nvSpPr>
            <p:cNvPr name="Freeform 30" id="30" descr="preencoded.png"/>
            <p:cNvSpPr/>
            <p:nvPr/>
          </p:nvSpPr>
          <p:spPr>
            <a:xfrm flipH="false" flipV="false" rot="0">
              <a:off x="0" y="0"/>
              <a:ext cx="960120" cy="960120"/>
            </a:xfrm>
            <a:custGeom>
              <a:avLst/>
              <a:gdLst/>
              <a:ahLst/>
              <a:cxnLst/>
              <a:rect r="r" b="b" t="t" l="l"/>
              <a:pathLst>
                <a:path h="960120" w="960120">
                  <a:moveTo>
                    <a:pt x="0" y="0"/>
                  </a:moveTo>
                  <a:lnTo>
                    <a:pt x="960120" y="0"/>
                  </a:lnTo>
                  <a:lnTo>
                    <a:pt x="960120" y="960120"/>
                  </a:lnTo>
                  <a:lnTo>
                    <a:pt x="0" y="960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2743200" y="6185916"/>
            <a:ext cx="5349240" cy="1028700"/>
            <a:chOff x="0" y="0"/>
            <a:chExt cx="7132320" cy="1371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32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132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Streamlit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0180" y="7530084"/>
            <a:ext cx="1028700" cy="1028700"/>
            <a:chOff x="0" y="0"/>
            <a:chExt cx="1371600" cy="13716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594485" y="7684389"/>
            <a:ext cx="720090" cy="720090"/>
            <a:chOff x="0" y="0"/>
            <a:chExt cx="960120" cy="960120"/>
          </a:xfrm>
        </p:grpSpPr>
        <p:sp>
          <p:nvSpPr>
            <p:cNvPr name="Freeform 37" id="37" descr="preencoded.png"/>
            <p:cNvSpPr/>
            <p:nvPr/>
          </p:nvSpPr>
          <p:spPr>
            <a:xfrm flipH="false" flipV="false" rot="0">
              <a:off x="0" y="0"/>
              <a:ext cx="960120" cy="960120"/>
            </a:xfrm>
            <a:custGeom>
              <a:avLst/>
              <a:gdLst/>
              <a:ahLst/>
              <a:cxnLst/>
              <a:rect r="r" b="b" t="t" l="l"/>
              <a:pathLst>
                <a:path h="960120" w="960120">
                  <a:moveTo>
                    <a:pt x="0" y="0"/>
                  </a:moveTo>
                  <a:lnTo>
                    <a:pt x="960120" y="0"/>
                  </a:lnTo>
                  <a:lnTo>
                    <a:pt x="960120" y="960120"/>
                  </a:lnTo>
                  <a:lnTo>
                    <a:pt x="0" y="960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743200" y="7530084"/>
            <a:ext cx="5349240" cy="1028700"/>
            <a:chOff x="0" y="0"/>
            <a:chExt cx="713232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32320" cy="1371600"/>
            </a:xfrm>
            <a:custGeom>
              <a:avLst/>
              <a:gdLst/>
              <a:ahLst/>
              <a:cxnLst/>
              <a:rect r="r" b="b" t="t" l="l"/>
              <a:pathLst>
                <a:path h="137160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1322" r="0" b="-5132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7132320" cy="1381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sz="2475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Machine Learning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846820" y="2537460"/>
            <a:ext cx="8435340" cy="6789420"/>
            <a:chOff x="0" y="0"/>
            <a:chExt cx="11247120" cy="90525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247120" cy="9052561"/>
            </a:xfrm>
            <a:custGeom>
              <a:avLst/>
              <a:gdLst/>
              <a:ahLst/>
              <a:cxnLst/>
              <a:rect r="r" b="b" t="t" l="l"/>
              <a:pathLst>
                <a:path h="9052561" w="11247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1082528" y="0"/>
                  </a:lnTo>
                  <a:cubicBezTo>
                    <a:pt x="11173460" y="0"/>
                    <a:pt x="11247120" y="73660"/>
                    <a:pt x="11247120" y="164592"/>
                  </a:cubicBezTo>
                  <a:lnTo>
                    <a:pt x="11247120" y="8887968"/>
                  </a:lnTo>
                  <a:cubicBezTo>
                    <a:pt x="11247120" y="8978900"/>
                    <a:pt x="11173460" y="9052561"/>
                    <a:pt x="11082528" y="9052561"/>
                  </a:cubicBezTo>
                  <a:lnTo>
                    <a:pt x="164592" y="9052561"/>
                  </a:lnTo>
                  <a:cubicBezTo>
                    <a:pt x="73660" y="9052560"/>
                    <a:pt x="0" y="8978900"/>
                    <a:pt x="0" y="888796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846820" y="2537460"/>
            <a:ext cx="8435340" cy="6789420"/>
            <a:chOff x="0" y="0"/>
            <a:chExt cx="11247120" cy="90525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247120" cy="9052561"/>
            </a:xfrm>
            <a:custGeom>
              <a:avLst/>
              <a:gdLst/>
              <a:ahLst/>
              <a:cxnLst/>
              <a:rect r="r" b="b" t="t" l="l"/>
              <a:pathLst>
                <a:path h="9052561" w="112471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1082528" y="0"/>
                  </a:lnTo>
                  <a:cubicBezTo>
                    <a:pt x="11173460" y="0"/>
                    <a:pt x="11247120" y="73660"/>
                    <a:pt x="11247120" y="164592"/>
                  </a:cubicBezTo>
                  <a:lnTo>
                    <a:pt x="11247120" y="8887968"/>
                  </a:lnTo>
                  <a:cubicBezTo>
                    <a:pt x="11247120" y="8978900"/>
                    <a:pt x="11173460" y="9052561"/>
                    <a:pt x="11082528" y="9052561"/>
                  </a:cubicBezTo>
                  <a:lnTo>
                    <a:pt x="164592" y="9052561"/>
                  </a:lnTo>
                  <a:cubicBezTo>
                    <a:pt x="73660" y="9052560"/>
                    <a:pt x="0" y="8978900"/>
                    <a:pt x="0" y="8887968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326880" y="2880360"/>
            <a:ext cx="6172200" cy="411480"/>
            <a:chOff x="0" y="0"/>
            <a:chExt cx="82296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0" cy="548640"/>
            </a:xfrm>
            <a:custGeom>
              <a:avLst/>
              <a:gdLst/>
              <a:ahLst/>
              <a:cxnLst/>
              <a:rect r="r" b="b" t="t" l="l"/>
              <a:pathLst>
                <a:path h="548640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26880" y="3593592"/>
            <a:ext cx="548640" cy="548640"/>
            <a:chOff x="0" y="0"/>
            <a:chExt cx="731520" cy="731520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0149840" y="3470148"/>
            <a:ext cx="6720840" cy="754380"/>
            <a:chOff x="0" y="0"/>
            <a:chExt cx="896112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961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Statistics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26880" y="4718304"/>
            <a:ext cx="548640" cy="548640"/>
            <a:chOff x="0" y="0"/>
            <a:chExt cx="731520" cy="731520"/>
          </a:xfrm>
        </p:grpSpPr>
        <p:sp>
          <p:nvSpPr>
            <p:cNvPr name="Freeform 54" id="5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0149840" y="4594860"/>
            <a:ext cx="6720840" cy="754380"/>
            <a:chOff x="0" y="0"/>
            <a:chExt cx="8961120" cy="1005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8961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Analysis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26880" y="5843016"/>
            <a:ext cx="548640" cy="548640"/>
            <a:chOff x="0" y="0"/>
            <a:chExt cx="731520" cy="731520"/>
          </a:xfrm>
        </p:grpSpPr>
        <p:sp>
          <p:nvSpPr>
            <p:cNvPr name="Freeform 59" id="5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149840" y="5719572"/>
            <a:ext cx="6720840" cy="754380"/>
            <a:chOff x="0" y="0"/>
            <a:chExt cx="896112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8961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Gender Distribution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326880" y="6967728"/>
            <a:ext cx="548640" cy="548640"/>
            <a:chOff x="0" y="0"/>
            <a:chExt cx="731520" cy="731520"/>
          </a:xfrm>
        </p:grpSpPr>
        <p:sp>
          <p:nvSpPr>
            <p:cNvPr name="Freeform 64" id="64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149840" y="6844284"/>
            <a:ext cx="6720840" cy="754380"/>
            <a:chOff x="0" y="0"/>
            <a:chExt cx="896112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8961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Purchase Trend Analysis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26880" y="8092440"/>
            <a:ext cx="548640" cy="548640"/>
            <a:chOff x="0" y="0"/>
            <a:chExt cx="731520" cy="731520"/>
          </a:xfrm>
        </p:grpSpPr>
        <p:sp>
          <p:nvSpPr>
            <p:cNvPr name="Freeform 69" id="69" descr="preencoded.png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149840" y="7968996"/>
            <a:ext cx="6720840" cy="754380"/>
            <a:chOff x="0" y="0"/>
            <a:chExt cx="8961120" cy="1005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9611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593" r="0" b="-12359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8961120" cy="105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Subscription Prediction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 IT IN ACTION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Live Project Demonstration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10424160" cy="2674620"/>
            <a:chOff x="0" y="0"/>
            <a:chExt cx="13898880" cy="3566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98879" cy="3566160"/>
            </a:xfrm>
            <a:custGeom>
              <a:avLst/>
              <a:gdLst/>
              <a:ahLst/>
              <a:cxnLst/>
              <a:rect r="r" b="b" t="t" l="l"/>
              <a:pathLst>
                <a:path h="3566160" w="13898879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3734287" y="0"/>
                  </a:lnTo>
                  <a:cubicBezTo>
                    <a:pt x="13825220" y="0"/>
                    <a:pt x="13898879" y="73660"/>
                    <a:pt x="13898879" y="164592"/>
                  </a:cubicBezTo>
                  <a:lnTo>
                    <a:pt x="13898879" y="3401568"/>
                  </a:lnTo>
                  <a:cubicBezTo>
                    <a:pt x="13898879" y="3492500"/>
                    <a:pt x="13825220" y="3566160"/>
                    <a:pt x="13734287" y="3566160"/>
                  </a:cubicBezTo>
                  <a:lnTo>
                    <a:pt x="164592" y="3566160"/>
                  </a:lnTo>
                  <a:cubicBezTo>
                    <a:pt x="73660" y="3566160"/>
                    <a:pt x="0" y="3492500"/>
                    <a:pt x="0" y="3401568"/>
                  </a:cubicBezTo>
                  <a:close/>
                </a:path>
              </a:pathLst>
            </a:custGeom>
            <a:solidFill>
              <a:srgbClr val="0B294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2990088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6479" y="3164967"/>
            <a:ext cx="816102" cy="816102"/>
            <a:chOff x="0" y="0"/>
            <a:chExt cx="1088136" cy="108813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88136" cy="1088136"/>
            </a:xfrm>
            <a:custGeom>
              <a:avLst/>
              <a:gdLst/>
              <a:ahLst/>
              <a:cxnLst/>
              <a:rect r="r" b="b" t="t" l="l"/>
              <a:pathLst>
                <a:path h="1088136" w="1088136">
                  <a:moveTo>
                    <a:pt x="0" y="0"/>
                  </a:moveTo>
                  <a:lnTo>
                    <a:pt x="1088136" y="0"/>
                  </a:lnTo>
                  <a:lnTo>
                    <a:pt x="1088136" y="1088136"/>
                  </a:lnTo>
                  <a:lnTo>
                    <a:pt x="0" y="1088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11780" y="2811780"/>
            <a:ext cx="8229600" cy="411480"/>
            <a:chOff x="0" y="0"/>
            <a:chExt cx="109728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225">
                  <a:solidFill>
                    <a:srgbClr val="82A6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DASHBOARD WEBSITE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43200" y="2537460"/>
            <a:ext cx="8366760" cy="2308706"/>
            <a:chOff x="0" y="0"/>
            <a:chExt cx="11155680" cy="30782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55680" cy="3078274"/>
            </a:xfrm>
            <a:custGeom>
              <a:avLst/>
              <a:gdLst/>
              <a:ahLst/>
              <a:cxnLst/>
              <a:rect r="r" b="b" t="t" l="l"/>
              <a:pathLst>
                <a:path h="3078274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3078274"/>
                  </a:lnTo>
                  <a:lnTo>
                    <a:pt x="0" y="3078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790" r="0" b="1156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1155680" cy="30973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b="true" sz="3150" u="sng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https://glassy-trend-vista.lovable.app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11780" y="4183380"/>
            <a:ext cx="8366760" cy="548640"/>
            <a:chOff x="0" y="0"/>
            <a:chExt cx="1115568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155680" cy="731520"/>
            </a:xfrm>
            <a:custGeom>
              <a:avLst/>
              <a:gdLst/>
              <a:ahLst/>
              <a:cxnLst/>
              <a:rect r="r" b="b" t="t" l="l"/>
              <a:pathLst>
                <a:path h="731520" w="11155680">
                  <a:moveTo>
                    <a:pt x="0" y="0"/>
                  </a:moveTo>
                  <a:lnTo>
                    <a:pt x="11155680" y="0"/>
                  </a:lnTo>
                  <a:lnTo>
                    <a:pt x="11155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7146" r="0" b="-24714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15568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B9D4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Click to open the interactive dashboard in your browser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5692140"/>
            <a:ext cx="8229600" cy="411480"/>
            <a:chOff x="0" y="0"/>
            <a:chExt cx="109728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FEATURES DEMONSTRATED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6309360"/>
            <a:ext cx="3182112" cy="2537460"/>
            <a:chOff x="0" y="0"/>
            <a:chExt cx="4242816" cy="3383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42816" cy="3383280"/>
            </a:xfrm>
            <a:custGeom>
              <a:avLst/>
              <a:gdLst/>
              <a:ahLst/>
              <a:cxnLst/>
              <a:rect r="r" b="b" t="t" l="l"/>
              <a:pathLst>
                <a:path h="3383280" w="424281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78224" y="0"/>
                  </a:lnTo>
                  <a:cubicBezTo>
                    <a:pt x="4169156" y="0"/>
                    <a:pt x="4242816" y="73660"/>
                    <a:pt x="4242816" y="164592"/>
                  </a:cubicBezTo>
                  <a:lnTo>
                    <a:pt x="4242816" y="3218688"/>
                  </a:lnTo>
                  <a:cubicBezTo>
                    <a:pt x="4242816" y="3309620"/>
                    <a:pt x="4169156" y="3383280"/>
                    <a:pt x="4078224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71116" y="6652260"/>
            <a:ext cx="960120" cy="960120"/>
            <a:chOff x="0" y="0"/>
            <a:chExt cx="1280160" cy="12801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2224735" y="6805879"/>
            <a:ext cx="652882" cy="652882"/>
            <a:chOff x="0" y="0"/>
            <a:chExt cx="870509" cy="870509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7749540"/>
            <a:ext cx="2907792" cy="960120"/>
            <a:chOff x="0" y="0"/>
            <a:chExt cx="3877056" cy="12801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87705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11" r="0" b="-901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387705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Dashboard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389120" y="6309360"/>
            <a:ext cx="3182112" cy="2537460"/>
            <a:chOff x="0" y="0"/>
            <a:chExt cx="4242816" cy="3383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242816" cy="3383280"/>
            </a:xfrm>
            <a:custGeom>
              <a:avLst/>
              <a:gdLst/>
              <a:ahLst/>
              <a:cxnLst/>
              <a:rect r="r" b="b" t="t" l="l"/>
              <a:pathLst>
                <a:path h="3383280" w="424281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78224" y="0"/>
                  </a:lnTo>
                  <a:cubicBezTo>
                    <a:pt x="4169156" y="0"/>
                    <a:pt x="4242816" y="73660"/>
                    <a:pt x="4242816" y="164592"/>
                  </a:cubicBezTo>
                  <a:lnTo>
                    <a:pt x="4242816" y="3218688"/>
                  </a:lnTo>
                  <a:cubicBezTo>
                    <a:pt x="4242816" y="3309620"/>
                    <a:pt x="4169156" y="3383280"/>
                    <a:pt x="4078224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5500116" y="6652260"/>
            <a:ext cx="960120" cy="960120"/>
            <a:chOff x="0" y="0"/>
            <a:chExt cx="1280160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5653735" y="6805879"/>
            <a:ext cx="652882" cy="652882"/>
            <a:chOff x="0" y="0"/>
            <a:chExt cx="870509" cy="870509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5" b="-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526280" y="7749540"/>
            <a:ext cx="2907792" cy="960120"/>
            <a:chOff x="0" y="0"/>
            <a:chExt cx="3877056" cy="12801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87705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11" r="0" b="-90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387705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Analytics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818120" y="6309360"/>
            <a:ext cx="3182112" cy="2537460"/>
            <a:chOff x="0" y="0"/>
            <a:chExt cx="4242816" cy="3383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42816" cy="3383280"/>
            </a:xfrm>
            <a:custGeom>
              <a:avLst/>
              <a:gdLst/>
              <a:ahLst/>
              <a:cxnLst/>
              <a:rect r="r" b="b" t="t" l="l"/>
              <a:pathLst>
                <a:path h="3383280" w="424281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78224" y="0"/>
                  </a:lnTo>
                  <a:cubicBezTo>
                    <a:pt x="4169156" y="0"/>
                    <a:pt x="4242816" y="73660"/>
                    <a:pt x="4242816" y="164592"/>
                  </a:cubicBezTo>
                  <a:lnTo>
                    <a:pt x="4242816" y="3218688"/>
                  </a:lnTo>
                  <a:cubicBezTo>
                    <a:pt x="4242816" y="3309620"/>
                    <a:pt x="4169156" y="3383280"/>
                    <a:pt x="4078224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929116" y="6652260"/>
            <a:ext cx="960120" cy="960120"/>
            <a:chOff x="0" y="0"/>
            <a:chExt cx="1280160" cy="12801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082735" y="6805879"/>
            <a:ext cx="652882" cy="652882"/>
            <a:chOff x="0" y="0"/>
            <a:chExt cx="870509" cy="870509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5" b="-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955280" y="7749540"/>
            <a:ext cx="2907792" cy="960120"/>
            <a:chOff x="0" y="0"/>
            <a:chExt cx="3877056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87705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11" r="0" b="-9011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387705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User Input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1247120" y="6309360"/>
            <a:ext cx="3182112" cy="2537460"/>
            <a:chOff x="0" y="0"/>
            <a:chExt cx="4242816" cy="3383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242816" cy="3383280"/>
            </a:xfrm>
            <a:custGeom>
              <a:avLst/>
              <a:gdLst/>
              <a:ahLst/>
              <a:cxnLst/>
              <a:rect r="r" b="b" t="t" l="l"/>
              <a:pathLst>
                <a:path h="3383280" w="424281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78224" y="0"/>
                  </a:lnTo>
                  <a:cubicBezTo>
                    <a:pt x="4169156" y="0"/>
                    <a:pt x="4242816" y="73660"/>
                    <a:pt x="4242816" y="164592"/>
                  </a:cubicBezTo>
                  <a:lnTo>
                    <a:pt x="4242816" y="3218688"/>
                  </a:lnTo>
                  <a:cubicBezTo>
                    <a:pt x="4242816" y="3309620"/>
                    <a:pt x="4169156" y="3383280"/>
                    <a:pt x="4078224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358116" y="6652260"/>
            <a:ext cx="960120" cy="960120"/>
            <a:chOff x="0" y="0"/>
            <a:chExt cx="128016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511735" y="6805879"/>
            <a:ext cx="652882" cy="652882"/>
            <a:chOff x="0" y="0"/>
            <a:chExt cx="870509" cy="870509"/>
          </a:xfrm>
        </p:grpSpPr>
        <p:sp>
          <p:nvSpPr>
            <p:cNvPr name="Freeform 58" id="58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5" b="-5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384280" y="7749540"/>
            <a:ext cx="2907792" cy="960120"/>
            <a:chOff x="0" y="0"/>
            <a:chExt cx="3877056" cy="128016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7705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11" r="0" b="-901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387705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Subscription Prediction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676120" y="6309360"/>
            <a:ext cx="3182112" cy="2537460"/>
            <a:chOff x="0" y="0"/>
            <a:chExt cx="4242816" cy="3383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42816" cy="3383280"/>
            </a:xfrm>
            <a:custGeom>
              <a:avLst/>
              <a:gdLst/>
              <a:ahLst/>
              <a:cxnLst/>
              <a:rect r="r" b="b" t="t" l="l"/>
              <a:pathLst>
                <a:path h="3383280" w="4242816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4078224" y="0"/>
                  </a:lnTo>
                  <a:cubicBezTo>
                    <a:pt x="4169156" y="0"/>
                    <a:pt x="4242816" y="73660"/>
                    <a:pt x="4242816" y="164592"/>
                  </a:cubicBezTo>
                  <a:lnTo>
                    <a:pt x="4242816" y="3218688"/>
                  </a:lnTo>
                  <a:cubicBezTo>
                    <a:pt x="4242816" y="3309620"/>
                    <a:pt x="4169156" y="3383280"/>
                    <a:pt x="4078224" y="3383280"/>
                  </a:cubicBezTo>
                  <a:lnTo>
                    <a:pt x="164592" y="3383280"/>
                  </a:lnTo>
                  <a:cubicBezTo>
                    <a:pt x="73660" y="3383280"/>
                    <a:pt x="0" y="3309620"/>
                    <a:pt x="0" y="321868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5787116" y="6652260"/>
            <a:ext cx="960120" cy="960120"/>
            <a:chOff x="0" y="0"/>
            <a:chExt cx="1280160" cy="12801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5940735" y="6805879"/>
            <a:ext cx="652882" cy="652882"/>
            <a:chOff x="0" y="0"/>
            <a:chExt cx="870509" cy="870509"/>
          </a:xfrm>
        </p:grpSpPr>
        <p:sp>
          <p:nvSpPr>
            <p:cNvPr name="Freeform 67" id="67" descr="preencoded.png"/>
            <p:cNvSpPr/>
            <p:nvPr/>
          </p:nvSpPr>
          <p:spPr>
            <a:xfrm flipH="false" flipV="false" rot="0">
              <a:off x="0" y="0"/>
              <a:ext cx="870458" cy="870458"/>
            </a:xfrm>
            <a:custGeom>
              <a:avLst/>
              <a:gdLst/>
              <a:ahLst/>
              <a:cxnLst/>
              <a:rect r="r" b="b" t="t" l="l"/>
              <a:pathLst>
                <a:path h="870458" w="870458">
                  <a:moveTo>
                    <a:pt x="0" y="0"/>
                  </a:moveTo>
                  <a:lnTo>
                    <a:pt x="870458" y="0"/>
                  </a:lnTo>
                  <a:lnTo>
                    <a:pt x="870458" y="870458"/>
                  </a:lnTo>
                  <a:lnTo>
                    <a:pt x="0" y="870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5" b="-5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4813280" y="7749540"/>
            <a:ext cx="2907792" cy="960120"/>
            <a:chOff x="0" y="0"/>
            <a:chExt cx="3877056" cy="12801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87705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877056">
                  <a:moveTo>
                    <a:pt x="0" y="0"/>
                  </a:moveTo>
                  <a:lnTo>
                    <a:pt x="3877056" y="0"/>
                  </a:lnTo>
                  <a:lnTo>
                    <a:pt x="387705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011" r="0" b="-901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57150"/>
              <a:ext cx="387705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76"/>
                </a:lnSpc>
              </a:pPr>
              <a:r>
                <a:rPr lang="en-US" sz="18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Visualization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DISCOVERED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4401800" cy="960120"/>
            <a:chOff x="0" y="0"/>
            <a:chExt cx="192024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2024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92024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2942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Results &amp; Findings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537460"/>
            <a:ext cx="16322040" cy="1303020"/>
            <a:chOff x="0" y="0"/>
            <a:chExt cx="21762720" cy="17373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1572768"/>
                  </a:lnTo>
                  <a:cubicBezTo>
                    <a:pt x="21762720" y="1663700"/>
                    <a:pt x="21689061" y="1737360"/>
                    <a:pt x="2159812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77490"/>
            <a:ext cx="822960" cy="822960"/>
            <a:chOff x="0" y="0"/>
            <a:chExt cx="1097280" cy="10972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26464" y="2900934"/>
            <a:ext cx="576072" cy="576072"/>
            <a:chOff x="0" y="0"/>
            <a:chExt cx="768096" cy="76809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537460" y="2537460"/>
            <a:ext cx="14401800" cy="1303020"/>
            <a:chOff x="0" y="0"/>
            <a:chExt cx="19202400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202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2024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Customer behavior patterns identified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4087368"/>
            <a:ext cx="16322040" cy="1303020"/>
            <a:chOff x="0" y="0"/>
            <a:chExt cx="21762720" cy="1737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762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1572768"/>
                  </a:lnTo>
                  <a:cubicBezTo>
                    <a:pt x="21762720" y="1663700"/>
                    <a:pt x="21689061" y="1737360"/>
                    <a:pt x="2159812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03020" y="4327398"/>
            <a:ext cx="822960" cy="822960"/>
            <a:chOff x="0" y="0"/>
            <a:chExt cx="109728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426464" y="4450842"/>
            <a:ext cx="576072" cy="576072"/>
            <a:chOff x="0" y="0"/>
            <a:chExt cx="768096" cy="768096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537460" y="4087368"/>
            <a:ext cx="14401800" cy="1303020"/>
            <a:chOff x="0" y="0"/>
            <a:chExt cx="19202400" cy="1737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02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92024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Purchase trends visualized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5637276"/>
            <a:ext cx="16322040" cy="1303020"/>
            <a:chOff x="0" y="0"/>
            <a:chExt cx="21762720" cy="17373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762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1572768"/>
                  </a:lnTo>
                  <a:cubicBezTo>
                    <a:pt x="21762720" y="1663700"/>
                    <a:pt x="21689061" y="1737360"/>
                    <a:pt x="2159812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03020" y="5877306"/>
            <a:ext cx="822960" cy="822960"/>
            <a:chOff x="0" y="0"/>
            <a:chExt cx="1097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26464" y="6000750"/>
            <a:ext cx="576072" cy="576072"/>
            <a:chOff x="0" y="0"/>
            <a:chExt cx="768096" cy="768096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537460" y="5637276"/>
            <a:ext cx="14401800" cy="1303020"/>
            <a:chOff x="0" y="0"/>
            <a:chExt cx="19202400" cy="1737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202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2024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Category-wise analysis performed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60120" y="7187184"/>
            <a:ext cx="16322040" cy="1303020"/>
            <a:chOff x="0" y="0"/>
            <a:chExt cx="21762720" cy="1737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762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1572768"/>
                  </a:lnTo>
                  <a:cubicBezTo>
                    <a:pt x="21762720" y="1663700"/>
                    <a:pt x="21689061" y="1737360"/>
                    <a:pt x="2159812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E3F1F1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03020" y="7427214"/>
            <a:ext cx="822960" cy="822960"/>
            <a:chOff x="0" y="0"/>
            <a:chExt cx="10972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426464" y="7550658"/>
            <a:ext cx="576072" cy="576072"/>
            <a:chOff x="0" y="0"/>
            <a:chExt cx="768096" cy="768096"/>
          </a:xfrm>
        </p:grpSpPr>
        <p:sp>
          <p:nvSpPr>
            <p:cNvPr name="Freeform 40" id="40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537460" y="7187184"/>
            <a:ext cx="14401800" cy="1303020"/>
            <a:chOff x="0" y="0"/>
            <a:chExt cx="19202400" cy="1737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202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92024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Subscription prediction generated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" y="8737092"/>
            <a:ext cx="16322040" cy="1303020"/>
            <a:chOff x="0" y="0"/>
            <a:chExt cx="21762720" cy="1737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62720" cy="1737360"/>
            </a:xfrm>
            <a:custGeom>
              <a:avLst/>
              <a:gdLst/>
              <a:ahLst/>
              <a:cxnLst/>
              <a:rect r="r" b="b" t="t" l="l"/>
              <a:pathLst>
                <a:path h="1737360" w="217627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1598128" y="0"/>
                  </a:lnTo>
                  <a:cubicBezTo>
                    <a:pt x="21689061" y="0"/>
                    <a:pt x="21762720" y="73660"/>
                    <a:pt x="21762720" y="164592"/>
                  </a:cubicBezTo>
                  <a:lnTo>
                    <a:pt x="21762720" y="1572768"/>
                  </a:lnTo>
                  <a:cubicBezTo>
                    <a:pt x="21762720" y="1663700"/>
                    <a:pt x="21689061" y="1737360"/>
                    <a:pt x="21598128" y="1737360"/>
                  </a:cubicBezTo>
                  <a:lnTo>
                    <a:pt x="164592" y="1737360"/>
                  </a:lnTo>
                  <a:cubicBezTo>
                    <a:pt x="73660" y="1737360"/>
                    <a:pt x="0" y="1663700"/>
                    <a:pt x="0" y="1572768"/>
                  </a:cubicBezTo>
                  <a:close/>
                </a:path>
              </a:pathLst>
            </a:custGeom>
            <a:solidFill>
              <a:srgbClr val="EEF7F7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03020" y="8977122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426464" y="9100566"/>
            <a:ext cx="576072" cy="576072"/>
            <a:chOff x="0" y="0"/>
            <a:chExt cx="768096" cy="768096"/>
          </a:xfrm>
        </p:grpSpPr>
        <p:sp>
          <p:nvSpPr>
            <p:cNvPr name="Freeform 49" id="49" descr="preencoded.png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2537460" y="8737092"/>
            <a:ext cx="14401800" cy="1303020"/>
            <a:chOff x="0" y="0"/>
            <a:chExt cx="19202400" cy="17373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20240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60" r="0" b="-16536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9202400" cy="17754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B29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Interactive dashboard successfully created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576072"/>
            <a:ext cx="10972800" cy="411480"/>
            <a:chOff x="0" y="0"/>
            <a:chExt cx="146304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46304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 spc="300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WRAPPING UP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960120"/>
            <a:ext cx="15087600" cy="960120"/>
            <a:chOff x="0" y="0"/>
            <a:chExt cx="2011680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116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6193" r="0" b="-256193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01168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106852" y="2523172"/>
            <a:ext cx="28575" cy="6886575"/>
            <a:chOff x="0" y="0"/>
            <a:chExt cx="38100" cy="918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9182100"/>
            </a:xfrm>
            <a:custGeom>
              <a:avLst/>
              <a:gdLst/>
              <a:ahLst/>
              <a:cxnLst/>
              <a:rect r="r" b="b" t="t" l="l"/>
              <a:pathLst>
                <a:path h="9182100" w="38100">
                  <a:moveTo>
                    <a:pt x="0" y="0"/>
                  </a:moveTo>
                  <a:lnTo>
                    <a:pt x="38100" y="91821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0871160" t="0" r="-30871160" b="0"/>
              </a:stretch>
            </a:blipFill>
            <a:ln w="28575" cap="sq">
              <a:solidFill>
                <a:srgbClr val="274A63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2606040"/>
            <a:ext cx="6858000" cy="411480"/>
            <a:chOff x="0" y="0"/>
            <a:chExt cx="91440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ACHIEVEMENTS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60120" y="3264408"/>
            <a:ext cx="493776" cy="493776"/>
            <a:chOff x="0" y="0"/>
            <a:chExt cx="658368" cy="658368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14500" y="3154680"/>
            <a:ext cx="7063740" cy="960120"/>
            <a:chOff x="0" y="0"/>
            <a:chExt cx="9418320" cy="12801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83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54" r="0" b="-9335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941832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Successfully analyzed customer shopping trends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120" y="4745736"/>
            <a:ext cx="493776" cy="493776"/>
            <a:chOff x="0" y="0"/>
            <a:chExt cx="658368" cy="658368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714500" y="4636008"/>
            <a:ext cx="7063740" cy="960120"/>
            <a:chOff x="0" y="0"/>
            <a:chExt cx="9418320" cy="12801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4183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54" r="0" b="-9335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941832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a Machine Learning prediction system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" y="6227064"/>
            <a:ext cx="493776" cy="493776"/>
            <a:chOff x="0" y="0"/>
            <a:chExt cx="658368" cy="658368"/>
          </a:xfrm>
        </p:grpSpPr>
        <p:sp>
          <p:nvSpPr>
            <p:cNvPr name="Freeform 24" id="24" descr="preencoded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714500" y="6117336"/>
            <a:ext cx="7063740" cy="960120"/>
            <a:chOff x="0" y="0"/>
            <a:chExt cx="941832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4183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54" r="0" b="-9335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941832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Developed an interactive dashboard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" y="7708392"/>
            <a:ext cx="493776" cy="493776"/>
            <a:chOff x="0" y="0"/>
            <a:chExt cx="658368" cy="658368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714500" y="7598664"/>
            <a:ext cx="7063740" cy="960120"/>
            <a:chOff x="0" y="0"/>
            <a:chExt cx="9418320" cy="12801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183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54" r="0" b="-9335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941832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Improved understanding of customer behavior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1200" y="2606040"/>
            <a:ext cx="6858000" cy="411480"/>
            <a:chOff x="0" y="0"/>
            <a:chExt cx="91440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1440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2EC4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FUTURE SCOPE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91675" y="3213735"/>
            <a:ext cx="869442" cy="869442"/>
            <a:chOff x="0" y="0"/>
            <a:chExt cx="1159256" cy="11592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13314D"/>
            </a:solidFill>
            <a:ln w="19050" cap="sq">
              <a:solidFill>
                <a:srgbClr val="2EC4B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06940" y="3429000"/>
            <a:ext cx="438912" cy="438912"/>
            <a:chOff x="0" y="0"/>
            <a:chExt cx="585216" cy="585216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698480" y="3195828"/>
            <a:ext cx="6309360" cy="905256"/>
            <a:chOff x="0" y="0"/>
            <a:chExt cx="8412480" cy="12070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412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04" r="0" b="-8580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8412480" cy="1273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database integration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591675" y="4695063"/>
            <a:ext cx="869442" cy="869442"/>
            <a:chOff x="0" y="0"/>
            <a:chExt cx="1159256" cy="115925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13314D"/>
            </a:solidFill>
            <a:ln w="19050" cap="sq">
              <a:solidFill>
                <a:srgbClr val="2EC4B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806940" y="4910328"/>
            <a:ext cx="438912" cy="438912"/>
            <a:chOff x="0" y="0"/>
            <a:chExt cx="585216" cy="585216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698480" y="4677156"/>
            <a:ext cx="6309360" cy="905256"/>
            <a:chOff x="0" y="0"/>
            <a:chExt cx="8412480" cy="120700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412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04" r="0" b="-8580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8412480" cy="1273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deployment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91675" y="6176391"/>
            <a:ext cx="869442" cy="869442"/>
            <a:chOff x="0" y="0"/>
            <a:chExt cx="1159256" cy="11592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13314D"/>
            </a:solidFill>
            <a:ln w="19050" cap="sq">
              <a:solidFill>
                <a:srgbClr val="2EC4B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806940" y="6391656"/>
            <a:ext cx="438912" cy="438912"/>
            <a:chOff x="0" y="0"/>
            <a:chExt cx="585216" cy="585216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0698480" y="6158484"/>
            <a:ext cx="6309360" cy="905256"/>
            <a:chOff x="0" y="0"/>
            <a:chExt cx="8412480" cy="120700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412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04" r="0" b="-8580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8412480" cy="1273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Advanced AI models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591675" y="7657719"/>
            <a:ext cx="869442" cy="869442"/>
            <a:chOff x="0" y="0"/>
            <a:chExt cx="1159256" cy="115925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159256" cy="1159256"/>
            </a:xfrm>
            <a:custGeom>
              <a:avLst/>
              <a:gdLst/>
              <a:ahLst/>
              <a:cxnLst/>
              <a:rect r="r" b="b" t="t" l="l"/>
              <a:pathLst>
                <a:path h="1159256" w="1159256">
                  <a:moveTo>
                    <a:pt x="0" y="579628"/>
                  </a:moveTo>
                  <a:cubicBezTo>
                    <a:pt x="0" y="259461"/>
                    <a:pt x="259461" y="0"/>
                    <a:pt x="579628" y="0"/>
                  </a:cubicBezTo>
                  <a:cubicBezTo>
                    <a:pt x="899795" y="0"/>
                    <a:pt x="1159256" y="259461"/>
                    <a:pt x="1159256" y="579628"/>
                  </a:cubicBezTo>
                  <a:cubicBezTo>
                    <a:pt x="1159256" y="899795"/>
                    <a:pt x="899795" y="1159256"/>
                    <a:pt x="579628" y="1159256"/>
                  </a:cubicBezTo>
                  <a:cubicBezTo>
                    <a:pt x="259461" y="1159256"/>
                    <a:pt x="0" y="899795"/>
                    <a:pt x="0" y="579628"/>
                  </a:cubicBezTo>
                  <a:close/>
                </a:path>
              </a:pathLst>
            </a:custGeom>
            <a:solidFill>
              <a:srgbClr val="13314D"/>
            </a:solidFill>
            <a:ln w="19050" cap="sq">
              <a:solidFill>
                <a:srgbClr val="2EC4B6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806940" y="7872984"/>
            <a:ext cx="438912" cy="438912"/>
            <a:chOff x="0" y="0"/>
            <a:chExt cx="585216" cy="585216"/>
          </a:xfrm>
        </p:grpSpPr>
        <p:sp>
          <p:nvSpPr>
            <p:cNvPr name="Freeform 60" id="60" descr="preencoded.png"/>
            <p:cNvSpPr/>
            <p:nvPr/>
          </p:nvSpPr>
          <p:spPr>
            <a:xfrm flipH="false" flipV="false" rot="0">
              <a:off x="0" y="0"/>
              <a:ext cx="585216" cy="585216"/>
            </a:xfrm>
            <a:custGeom>
              <a:avLst/>
              <a:gdLst/>
              <a:ahLst/>
              <a:cxnLst/>
              <a:rect r="r" b="b" t="t" l="l"/>
              <a:pathLst>
                <a:path h="585216" w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0698480" y="7639812"/>
            <a:ext cx="6309360" cy="905256"/>
            <a:chOff x="0" y="0"/>
            <a:chExt cx="8412480" cy="120700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412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804" r="0" b="-8580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8412480" cy="12736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2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application development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94560" y="-246888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1C7293">
                <a:alpha val="392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538960" y="6309360"/>
            <a:ext cx="6035040" cy="6035040"/>
            <a:chOff x="0" y="0"/>
            <a:chExt cx="8046720" cy="8046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0467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2EC4B6">
                <a:alpha val="1569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88452" y="1165860"/>
            <a:ext cx="1371600" cy="1371600"/>
            <a:chOff x="0" y="0"/>
            <a:chExt cx="1828800" cy="182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8407908" y="1385316"/>
            <a:ext cx="932688" cy="932688"/>
            <a:chOff x="0" y="0"/>
            <a:chExt cx="1243584" cy="1243584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1243584"/>
                  </a:lnTo>
                  <a:lnTo>
                    <a:pt x="0" y="124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2743200"/>
            <a:ext cx="18283428" cy="1371600"/>
            <a:chOff x="0" y="0"/>
            <a:chExt cx="24377904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377904" cy="1828800"/>
            </a:xfrm>
            <a:custGeom>
              <a:avLst/>
              <a:gdLst/>
              <a:ahLst/>
              <a:cxnLst/>
              <a:rect r="r" b="b" t="t" l="l"/>
              <a:pathLst>
                <a:path h="182880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735" r="0" b="-20973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4377904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0" y="4046220"/>
            <a:ext cx="18283428" cy="617220"/>
            <a:chOff x="0" y="0"/>
            <a:chExt cx="24377904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77904" cy="822960"/>
            </a:xfrm>
            <a:custGeom>
              <a:avLst/>
              <a:gdLst/>
              <a:ahLst/>
              <a:cxnLst/>
              <a:rect r="r" b="b" t="t" l="l"/>
              <a:pathLst>
                <a:path h="82296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7190" r="0" b="-52719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4377904" cy="8801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i="true">
                  <a:solidFill>
                    <a:srgbClr val="B9D4D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Scan the QR code or click the website link to view the live dashboard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00116" y="5040630"/>
            <a:ext cx="7680960" cy="2057400"/>
            <a:chOff x="0" y="0"/>
            <a:chExt cx="10241280" cy="274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4128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024128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076688" y="0"/>
                  </a:lnTo>
                  <a:cubicBezTo>
                    <a:pt x="10167620" y="0"/>
                    <a:pt x="10241280" y="73660"/>
                    <a:pt x="10241280" y="164592"/>
                  </a:cubicBezTo>
                  <a:lnTo>
                    <a:pt x="10241280" y="2578608"/>
                  </a:lnTo>
                  <a:cubicBezTo>
                    <a:pt x="10241280" y="2669540"/>
                    <a:pt x="10167620" y="2743200"/>
                    <a:pt x="10076688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13314D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5500116" y="5269808"/>
            <a:ext cx="1165860" cy="1165860"/>
            <a:chOff x="0" y="0"/>
            <a:chExt cx="155448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2EC4B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622344" y="5396115"/>
            <a:ext cx="913245" cy="913245"/>
            <a:chOff x="0" y="0"/>
            <a:chExt cx="1088136" cy="1088136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88136" cy="1088136"/>
            </a:xfrm>
            <a:custGeom>
              <a:avLst/>
              <a:gdLst/>
              <a:ahLst/>
              <a:cxnLst/>
              <a:rect r="r" b="b" t="t" l="l"/>
              <a:pathLst>
                <a:path h="1088136" w="1088136">
                  <a:moveTo>
                    <a:pt x="0" y="0"/>
                  </a:moveTo>
                  <a:lnTo>
                    <a:pt x="1088136" y="0"/>
                  </a:lnTo>
                  <a:lnTo>
                    <a:pt x="1088136" y="1088136"/>
                  </a:lnTo>
                  <a:lnTo>
                    <a:pt x="0" y="1088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03281" y="4663440"/>
            <a:ext cx="6041757" cy="1811262"/>
            <a:chOff x="0" y="0"/>
            <a:chExt cx="8055676" cy="241501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055677" cy="2415015"/>
            </a:xfrm>
            <a:custGeom>
              <a:avLst/>
              <a:gdLst/>
              <a:ahLst/>
              <a:cxnLst/>
              <a:rect r="r" b="b" t="t" l="l"/>
              <a:pathLst>
                <a:path h="2415015" w="8055677">
                  <a:moveTo>
                    <a:pt x="0" y="0"/>
                  </a:moveTo>
                  <a:lnTo>
                    <a:pt x="8055677" y="0"/>
                  </a:lnTo>
                  <a:lnTo>
                    <a:pt x="8055677" y="2415015"/>
                  </a:lnTo>
                  <a:lnTo>
                    <a:pt x="0" y="24150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089" r="9191" b="2204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055676" cy="2424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0"/>
                </a:lnSpc>
              </a:pPr>
              <a:r>
                <a:rPr lang="en-US" b="true" sz="2475" u="sng">
                  <a:solidFill>
                    <a:srgbClr val="2EC4B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https://glassy-trend-vista.lovable.app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664708" y="6435668"/>
            <a:ext cx="5486400" cy="480060"/>
            <a:chOff x="0" y="0"/>
            <a:chExt cx="7315200" cy="640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73152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B9D4D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Dashboard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59539" y="5705856"/>
            <a:ext cx="932688" cy="932688"/>
            <a:chOff x="0" y="0"/>
            <a:chExt cx="1243584" cy="1243584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243584" cy="1243584"/>
            </a:xfrm>
            <a:custGeom>
              <a:avLst/>
              <a:gdLst/>
              <a:ahLst/>
              <a:cxnLst/>
              <a:rect r="r" b="b" t="t" l="l"/>
              <a:pathLst>
                <a:path h="1243584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1243584"/>
                  </a:lnTo>
                  <a:lnTo>
                    <a:pt x="0" y="1243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0" y="9395460"/>
            <a:ext cx="18283428" cy="480060"/>
            <a:chOff x="0" y="0"/>
            <a:chExt cx="24377904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4377904" cy="640080"/>
            </a:xfrm>
            <a:custGeom>
              <a:avLst/>
              <a:gdLst/>
              <a:ahLst/>
              <a:cxnLst/>
              <a:rect r="r" b="b" t="t" l="l"/>
              <a:pathLst>
                <a:path h="640080" w="24377904">
                  <a:moveTo>
                    <a:pt x="0" y="0"/>
                  </a:moveTo>
                  <a:lnTo>
                    <a:pt x="24377904" y="0"/>
                  </a:lnTo>
                  <a:lnTo>
                    <a:pt x="24377904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92101" r="0" b="-69210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4377904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>
                  <a:solidFill>
                    <a:srgbClr val="6F8A9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Subhalaxmi Mallick   •   Subhashree Sahoo   •   CE &amp; IoT, Group A   •   Govt. Polytechnic Bhubaneswar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DAHN4vLjpG4</dc:identifier>
  <dcterms:modified xsi:type="dcterms:W3CDTF">2011-08-01T06:04:30Z</dcterms:modified>
  <cp:revision>1</cp:revision>
  <dc:title>DOC-20260626-WA0004..pptx</dc:title>
</cp:coreProperties>
</file>